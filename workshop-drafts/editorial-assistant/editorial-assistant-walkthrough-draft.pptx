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f63533fca54097" /><Relationship Type="http://schemas.openxmlformats.org/officeDocument/2006/relationships/extended-properties" Target="/docProps/app.xml" Id="R19a90a169679475d" /><Relationship Type="http://schemas.openxmlformats.org/officeDocument/2006/relationships/officeDocument" Target="/ppt/presentation.xml" Id="R471dca14046745ba" /></Relationships>
</file>

<file path=ppt/presentation.xml><?xml version="1.0" encoding="utf-8"?>
<p:presentation xmlns:p="http://schemas.openxmlformats.org/presentationml/2006/main">
  <p:sldMasterIdLst>
    <p:sldMasterId xmlns:r="http://schemas.openxmlformats.org/officeDocument/2006/relationships" id="2147483648" r:id="R648d533fe38d4451"/>
  </p:sldMasterIdLst>
  <p:notesMasterIdLst>
    <p:notesMasterId xmlns:r="http://schemas.openxmlformats.org/officeDocument/2006/relationships" r:id="Rf54900e03d36426e"/>
  </p:notesMasterIdLst>
  <p:sldIdLst>
    <p:sldId xmlns:r="http://schemas.openxmlformats.org/officeDocument/2006/relationships" id="256" r:id="R2f24a8a376e74862"/>
    <p:sldId xmlns:r="http://schemas.openxmlformats.org/officeDocument/2006/relationships" id="257" r:id="R72dd2aaaafa64dd2"/>
    <p:sldId xmlns:r="http://schemas.openxmlformats.org/officeDocument/2006/relationships" id="258" r:id="R30be7480402a4e1c"/>
    <p:sldId xmlns:r="http://schemas.openxmlformats.org/officeDocument/2006/relationships" id="259" r:id="R54b5a40d03c945ac"/>
    <p:sldId xmlns:r="http://schemas.openxmlformats.org/officeDocument/2006/relationships" id="260" r:id="R7064bc41085d45bb"/>
    <p:sldId xmlns:r="http://schemas.openxmlformats.org/officeDocument/2006/relationships" id="261" r:id="Rbf8fb05c71dc49f6"/>
    <p:sldId xmlns:r="http://schemas.openxmlformats.org/officeDocument/2006/relationships" id="262" r:id="R0f5db2ac59e24175"/>
    <p:sldId xmlns:r="http://schemas.openxmlformats.org/officeDocument/2006/relationships" id="263" r:id="R4e63ab70c1ab41ca"/>
    <p:sldId xmlns:r="http://schemas.openxmlformats.org/officeDocument/2006/relationships" id="264" r:id="R8d705d6f688d4620"/>
    <p:sldId xmlns:r="http://schemas.openxmlformats.org/officeDocument/2006/relationships" id="265" r:id="Rd52e894e4eac4e0b"/>
    <p:sldId xmlns:r="http://schemas.openxmlformats.org/officeDocument/2006/relationships" id="266" r:id="R48816a7b4be64746"/>
    <p:sldId xmlns:r="http://schemas.openxmlformats.org/officeDocument/2006/relationships" id="267" r:id="R51931f70b377470c"/>
    <p:sldId xmlns:r="http://schemas.openxmlformats.org/officeDocument/2006/relationships" id="268" r:id="R537d7d3350cb4e3f"/>
    <p:sldId xmlns:r="http://schemas.openxmlformats.org/officeDocument/2006/relationships" id="269" r:id="R1012202c8f2f44b0"/>
    <p:sldId xmlns:r="http://schemas.openxmlformats.org/officeDocument/2006/relationships" id="270" r:id="Ra35591b00cc64983"/>
    <p:sldId xmlns:r="http://schemas.openxmlformats.org/officeDocument/2006/relationships" id="271" r:id="Rebe29df274ce4e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dce7c7a6a84ad6" /><Relationship Type="http://schemas.openxmlformats.org/officeDocument/2006/relationships/slideMaster" Target="/ppt/slideMasters/slideMaster1.xml" Id="R648d533fe38d4451" /><Relationship Type="http://schemas.openxmlformats.org/officeDocument/2006/relationships/notesMaster" Target="/ppt/notesMasters/notesMaster1.xml" Id="Rf54900e03d36426e" /><Relationship Type="http://schemas.openxmlformats.org/officeDocument/2006/relationships/presProps" Target="/ppt/presProps.xml" Id="R5e1c955341dc4eaf" /><Relationship Type="http://schemas.openxmlformats.org/officeDocument/2006/relationships/tableStyles" Target="/ppt/tableStyles.xml" Id="Rf665b3f438e34913" /><Relationship Type="http://schemas.openxmlformats.org/officeDocument/2006/relationships/slide" Target="/ppt/slides/slide1.xml" Id="R2f24a8a376e74862" /><Relationship Type="http://schemas.openxmlformats.org/officeDocument/2006/relationships/slide" Target="/ppt/slides/slide2.xml" Id="R72dd2aaaafa64dd2" /><Relationship Type="http://schemas.openxmlformats.org/officeDocument/2006/relationships/slide" Target="/ppt/slides/slide3.xml" Id="R30be7480402a4e1c" /><Relationship Type="http://schemas.openxmlformats.org/officeDocument/2006/relationships/slide" Target="/ppt/slides/slide4.xml" Id="R54b5a40d03c945ac" /><Relationship Type="http://schemas.openxmlformats.org/officeDocument/2006/relationships/slide" Target="/ppt/slides/slide5.xml" Id="R7064bc41085d45bb" /><Relationship Type="http://schemas.openxmlformats.org/officeDocument/2006/relationships/slide" Target="/ppt/slides/slide6.xml" Id="Rbf8fb05c71dc49f6" /><Relationship Type="http://schemas.openxmlformats.org/officeDocument/2006/relationships/slide" Target="/ppt/slides/slide7.xml" Id="R0f5db2ac59e24175" /><Relationship Type="http://schemas.openxmlformats.org/officeDocument/2006/relationships/slide" Target="/ppt/slides/slide8.xml" Id="R4e63ab70c1ab41ca" /><Relationship Type="http://schemas.openxmlformats.org/officeDocument/2006/relationships/slide" Target="/ppt/slides/slide9.xml" Id="R8d705d6f688d4620" /><Relationship Type="http://schemas.openxmlformats.org/officeDocument/2006/relationships/slide" Target="/ppt/slides/slide10.xml" Id="Rd52e894e4eac4e0b" /><Relationship Type="http://schemas.openxmlformats.org/officeDocument/2006/relationships/slide" Target="/ppt/slides/slide11.xml" Id="R48816a7b4be64746" /><Relationship Type="http://schemas.openxmlformats.org/officeDocument/2006/relationships/slide" Target="/ppt/slides/slide12.xml" Id="R51931f70b377470c" /><Relationship Type="http://schemas.openxmlformats.org/officeDocument/2006/relationships/slide" Target="/ppt/slides/slide13.xml" Id="R537d7d3350cb4e3f" /><Relationship Type="http://schemas.openxmlformats.org/officeDocument/2006/relationships/slide" Target="/ppt/slides/slide14.xml" Id="R1012202c8f2f44b0" /><Relationship Type="http://schemas.openxmlformats.org/officeDocument/2006/relationships/slide" Target="/ppt/slides/slide15.xml" Id="Ra35591b00cc64983" /><Relationship Type="http://schemas.openxmlformats.org/officeDocument/2006/relationships/slide" Target="/ppt/slides/slide16.xml" Id="Rebe29df274ce4e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b107b463f94d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1f28c9ebda4f2b" /><Relationship Type="http://schemas.openxmlformats.org/officeDocument/2006/relationships/notesMaster" Target="/ppt/notesMasters/notesMaster1.xml" Id="Rb45065e379254e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52fb2e74744481" /><Relationship Type="http://schemas.openxmlformats.org/officeDocument/2006/relationships/notesMaster" Target="/ppt/notesMasters/notesMaster1.xml" Id="R82eb59e3bc604fd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8b3a497c8b4a14" /><Relationship Type="http://schemas.openxmlformats.org/officeDocument/2006/relationships/notesMaster" Target="/ppt/notesMasters/notesMaster1.xml" Id="Rcd12551270bb45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affbdf7ff642f2" /><Relationship Type="http://schemas.openxmlformats.org/officeDocument/2006/relationships/notesMaster" Target="/ppt/notesMasters/notesMaster1.xml" Id="R21bef88ede26438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515162333947c6" /><Relationship Type="http://schemas.openxmlformats.org/officeDocument/2006/relationships/notesMaster" Target="/ppt/notesMasters/notesMaster1.xml" Id="Raf7717325e4d428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ae7a18aa9c54a35" /><Relationship Type="http://schemas.openxmlformats.org/officeDocument/2006/relationships/notesMaster" Target="/ppt/notesMasters/notesMaster1.xml" Id="R19e3c9f9548c40e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33fb2669e64278" /><Relationship Type="http://schemas.openxmlformats.org/officeDocument/2006/relationships/notesMaster" Target="/ppt/notesMasters/notesMaster1.xml" Id="R16f1696444b44c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87374d92f9a40fe" /><Relationship Type="http://schemas.openxmlformats.org/officeDocument/2006/relationships/notesMaster" Target="/ppt/notesMasters/notesMaster1.xml" Id="R8b3d5207571045b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7dae7aa177c4adf" /><Relationship Type="http://schemas.openxmlformats.org/officeDocument/2006/relationships/notesMaster" Target="/ppt/notesMasters/notesMaster1.xml" Id="R5761e95a5b9b4b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9708647e2d4b8c" /><Relationship Type="http://schemas.openxmlformats.org/officeDocument/2006/relationships/notesMaster" Target="/ppt/notesMasters/notesMaster1.xml" Id="R4b00ce951a8840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297e21cd18947c8" /><Relationship Type="http://schemas.openxmlformats.org/officeDocument/2006/relationships/notesMaster" Target="/ppt/notesMasters/notesMaster1.xml" Id="Rb73dd9dd0fbe4f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c8b2b9d5443470e" /><Relationship Type="http://schemas.openxmlformats.org/officeDocument/2006/relationships/notesMaster" Target="/ppt/notesMasters/notesMaster1.xml" Id="Rfe975a7acd6040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4f777fcd8684051" /><Relationship Type="http://schemas.openxmlformats.org/officeDocument/2006/relationships/notesMaster" Target="/ppt/notesMasters/notesMaster1.xml" Id="R453315a799844f3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2cbe6fe1a2344cc" /><Relationship Type="http://schemas.openxmlformats.org/officeDocument/2006/relationships/notesMaster" Target="/ppt/notesMasters/notesMaster1.xml" Id="R7b48a0dfc0d149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b6ec5b29d0b47cb" /><Relationship Type="http://schemas.openxmlformats.org/officeDocument/2006/relationships/notesMaster" Target="/ppt/notesMasters/notesMaster1.xml" Id="R50f399111dda45b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f44564c34bc431d" /><Relationship Type="http://schemas.openxmlformats.org/officeDocument/2006/relationships/notesMaster" Target="/ppt/notesMasters/notesMaster1.xml" Id="R51f30308eb3f47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0–1 minutes (1 minutes)</a:t>
            </a:r>
          </a:p>
          <a:p xmlns:a="http://schemas.openxmlformats.org/drawingml/2006/main">
            <a:r>
              <a:t/>
            </a:r>
          </a:p>
          <a:p xmlns:a="http://schemas.openxmlformats.org/drawingml/2006/main">
            <a:r>
              <a:t>Welcome. Today has the three topics promised on the flyer: teaching the assistant how to read your work, keeping rules and a style guide, and trying different reader perspectives. You can participate by watching and judging the examples. People with a laptop can use the webpage. This is a practice boundary for this session, not a claim that all other uses are wrong.</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1–3 minutes (2 minutes)</a:t>
            </a:r>
          </a:p>
          <a:p xmlns:a="http://schemas.openxmlformats.org/drawingml/2006/main">
            <a:r>
              <a:t/>
            </a:r>
          </a:p>
          <a:p xmlns:a="http://schemas.openxmlformats.org/drawingml/2006/main">
            <a:r>
              <a:t>Give the room 30 seconds to read. Ask for one phrase that seems open to interpretation. Do not turn this into a debate over the ideal AI policy. We are examining how an assistant reads a familiar text. The example is invented and makes no claim about university policy. Participants may use their own shareable paragraph instead.</a:t>
            </a:r>
          </a:p>
          <a:p xmlns:a="http://schemas.openxmlformats.org/drawingml/2006/main">
            <a:r>
              <a:t/>
            </a:r>
          </a:p>
          <a:p xmlns:a="http://schemas.openxmlformats.org/drawingml/2006/main">
            <a:r>
              <a:t>COMPANION</a:t>
            </a:r>
          </a:p>
          <a:p xmlns:a="http://schemas.openxmlformats.org/drawingml/2006/main">
            <a:r>
              <a:t>https://amaranth.unm.edu/reliable-ai/practice-texts#3-a-syllabus-policy</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3–6 minutes (3 minutes)</a:t>
            </a:r>
          </a:p>
          <a:p xmlns:a="http://schemas.openxmlformats.org/drawingml/2006/main">
            <a:r>
              <a:t/>
            </a:r>
          </a:p>
          <a:p xmlns:a="http://schemas.openxmlformats.org/drawingml/2006/main">
            <a:r>
              <a:t>Display the source sentence first by pointing back to the prior slide, then show this response. Ask for a show of hands before you explain. The assistant carried out an underspecified editing request. Its proposed change may be reasonable, but choosing the strength of a requirement belongs to the author. It also explained the change. Avoid describing every rewrite as a malfunction. This is a task-definition problem. The source data attributes this reply to Claude Opus 5 on 2026-09-22. Its provenance note says it was generated in the authoring conversation, with prior discussion of the intended lesson. This is a provisional source example, not an independently rerun demonstration. Selected excerpts preserve the source wording and order. […] marks an internal cut.</a:t>
            </a:r>
          </a:p>
          <a:p xmlns:a="http://schemas.openxmlformats.org/drawingml/2006/main">
            <a:r>
              <a:t/>
            </a:r>
          </a:p>
          <a:p xmlns:a="http://schemas.openxmlformats.org/drawingml/2006/main">
            <a:r>
              <a:t>DISPLAYED PROMPT</a:t>
            </a:r>
          </a:p>
          <a:p xmlns:a="http://schemas.openxmlformats.org/drawingml/2006/main">
            <a:r>
              <a:t>Edit this.</a:t>
            </a:r>
          </a:p>
          <a:p xmlns:a="http://schemas.openxmlformats.org/drawingml/2006/main">
            <a:r>
              <a:t/>
            </a:r>
          </a:p>
          <a:p xmlns:a="http://schemas.openxmlformats.org/drawingml/2006/main">
            <a:r>
              <a:t>COMPANION</a:t>
            </a:r>
          </a:p>
          <a:p xmlns:a="http://schemas.openxmlformats.org/drawingml/2006/main">
            <a:r>
              <a:t>https://amaranth.unm.edu/reliable-ai/sessions/editorial-assistant#step-1</a:t>
            </a:r>
          </a:p>
          <a:p xmlns:a="http://schemas.openxmlformats.org/drawingml/2006/main">
            <a:r>
              <a:t/>
            </a:r>
          </a:p>
          <a:p xmlns:a="http://schemas.openxmlformats.org/drawingml/2006/main">
            <a:r>
              <a:t>SOURCE IDS</a:t>
            </a:r>
          </a:p>
          <a:p xmlns:a="http://schemas.openxmlformats.org/drawingml/2006/main">
            <a:r>
              <a:t>baseline, policy-baseline</a:t>
            </a:r>
          </a:p>
          <a:p xmlns:a="http://schemas.openxmlformats.org/drawingml/2006/main">
            <a:r>
              <a:t>Source files: /Users/fwgibbs/Dropbox/websites/amaranth/reliable-ai/_data/prompts.yml and /Users/fwgibbs/Dropbox/websites/amaranth/reliable-ai/_data/demos.yml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6–10 minutes (4 minutes)</a:t>
            </a:r>
          </a:p>
          <a:p xmlns:a="http://schemas.openxmlformats.org/drawingml/2006/main">
            <a:r>
              <a:t/>
            </a:r>
          </a:p>
          <a:p xmlns:a="http://schemas.openxmlformats.org/drawingml/2006/main">
            <a:r>
              <a:t>Point out genre, audience, purpose, concern, and scope as they appear in the prompt. Do not explain a general prompting formula at length. Ask the room whether the disclosure comment is useful. The author could add an example or a procedure. We have not yet asked the assistant to write one. The prompt shown is an adapted, filled-in version of editorial-brief, not a claim to reproduce every keystroke of the original run. The source data attributes this reply to Claude Opus 5 on 2026-09-22. Its provenance note says it was generated in the authoring conversation, with prior discussion of the intended lesson. This is a provisional source example, not an independently rerun demonstration. Selected excerpts preserve the source wording and order. […] marks an internal cut.</a:t>
            </a:r>
          </a:p>
          <a:p xmlns:a="http://schemas.openxmlformats.org/drawingml/2006/main">
            <a:r>
              <a:t/>
            </a:r>
          </a:p>
          <a:p xmlns:a="http://schemas.openxmlformats.org/drawingml/2006/main">
            <a:r>
              <a:t>DISPLAYED PROMPT</a:t>
            </a:r>
          </a:p>
          <a:p xmlns:a="http://schemas.openxmlformats.org/drawingml/2006/main">
            <a:r>
              <a:t>This is a syllabus policy for undergraduates. It should set expectations they can follow.</a:t>
            </a:r>
          </a:p>
          <a:p xmlns:a="http://schemas.openxmlformats.org/drawingml/2006/main">
            <a:r>
              <a:t/>
            </a:r>
          </a:p>
          <a:p xmlns:a="http://schemas.openxmlformats.org/drawingml/2006/main">
            <a:r>
              <a:t>I am worried about disclosure. Preserve my voice and terminology.</a:t>
            </a:r>
          </a:p>
          <a:p xmlns:a="http://schemas.openxmlformats.org/drawingml/2006/main">
            <a:r>
              <a:t/>
            </a:r>
          </a:p>
          <a:p xmlns:a="http://schemas.openxmlformats.org/drawingml/2006/main">
            <a:r>
              <a:t>Don’t rewrite. Quote three places a reader could get lost and explain why.</a:t>
            </a:r>
          </a:p>
          <a:p xmlns:a="http://schemas.openxmlformats.org/drawingml/2006/main">
            <a:r>
              <a:t/>
            </a:r>
          </a:p>
          <a:p xmlns:a="http://schemas.openxmlformats.org/drawingml/2006/main">
            <a:r>
              <a:t>FULL PROMPT</a:t>
            </a:r>
          </a:p>
          <a:p xmlns:a="http://schemas.openxmlformats.org/drawingml/2006/main">
            <a:r>
              <a:t>This is a syllabus policy for undergraduates in a history course. It is trying to set expectations students can actually follow.</a:t>
            </a:r>
          </a:p>
          <a:p xmlns:a="http://schemas.openxmlformats.org/drawingml/2006/main">
            <a:r>
              <a:t/>
            </a:r>
          </a:p>
          <a:p xmlns:a="http://schemas.openxmlformats.org/drawingml/2006/main">
            <a:r>
              <a:t>I am worried about enforceability and disclosure. Do not change my voice or terminology.</a:t>
            </a:r>
          </a:p>
          <a:p xmlns:a="http://schemas.openxmlformats.org/drawingml/2006/main">
            <a:r>
              <a:t/>
            </a:r>
          </a:p>
          <a:p xmlns:a="http://schemas.openxmlformats.org/drawingml/2006/main">
            <a:r>
              <a:t>Don’t rewrite anything. Tell me the three places a reader is most likely to get lost. Quote the exact sentence and explain why.</a:t>
            </a:r>
          </a:p>
          <a:p xmlns:a="http://schemas.openxmlformats.org/drawingml/2006/main">
            <a:r>
              <a:t/>
            </a:r>
          </a:p>
          <a:p xmlns:a="http://schemas.openxmlformats.org/drawingml/2006/main">
            <a:r>
              <a:t>COMPANION</a:t>
            </a:r>
          </a:p>
          <a:p xmlns:a="http://schemas.openxmlformats.org/drawingml/2006/main">
            <a:r>
              <a:t>https://amaranth.unm.edu/reliable-ai/sessions/editorial-assistant#step-2</a:t>
            </a:r>
          </a:p>
          <a:p xmlns:a="http://schemas.openxmlformats.org/drawingml/2006/main">
            <a:r>
              <a:t/>
            </a:r>
          </a:p>
          <a:p xmlns:a="http://schemas.openxmlformats.org/drawingml/2006/main">
            <a:r>
              <a:t>SOURCE IDS</a:t>
            </a:r>
          </a:p>
          <a:p xmlns:a="http://schemas.openxmlformats.org/drawingml/2006/main">
            <a:r>
              <a:t>editorial-brief, policy-briefed</a:t>
            </a:r>
          </a:p>
          <a:p xmlns:a="http://schemas.openxmlformats.org/drawingml/2006/main">
            <a:r>
              <a:t>Source files: /Users/fwgibbs/Dropbox/websites/amaranth/reliable-ai/_data/prompts.yml and /Users/fwgibbs/Dropbox/websites/amaranth/reliable-ai/_data/demos.yml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10–13 minutes (3 minutes)</a:t>
            </a:r>
          </a:p>
          <a:p xmlns:a="http://schemas.openxmlformats.org/drawingml/2006/main">
            <a:r>
              <a:t/>
            </a:r>
          </a:p>
          <a:p xmlns:a="http://schemas.openxmlformats.org/drawingml/2006/main">
            <a:r>
              <a:t>Context: the prior loose follow-up had asserted that students respond better when they understand a policy’s reasoning. This reply distinguishes that general belief from a finding in the paragraph. Ask the room to make that distinction before explaining. Do not claim that a quotation proves a criticism correct, or that an omission cannot be a problem. If time permits, mention the briefed response’s separate claim that disclosure depends on substantially: the policy actually says any use should be disclosed. This is a concrete finding to reject. The source data attributes this reply to Claude Opus 5 on 2026-09-22. Its provenance note says it was generated in the authoring conversation, with prior discussion of the intended lesson. This is a provisional source example, not an independently rerun demonstration. Selected excerpts preserve the source wording and order. […] marks an internal cut.</a:t>
            </a:r>
          </a:p>
          <a:p xmlns:a="http://schemas.openxmlformats.org/drawingml/2006/main">
            <a:r>
              <a:t/>
            </a:r>
          </a:p>
          <a:p xmlns:a="http://schemas.openxmlformats.org/drawingml/2006/main">
            <a:r>
              <a:t>DISPLAYED PROMPT</a:t>
            </a:r>
          </a:p>
          <a:p xmlns:a="http://schemas.openxmlformats.org/drawingml/2006/main">
            <a:r>
              <a:t>Quote the exact words that made you say that. If you can’t point to specific text, say so instead of explaining further.</a:t>
            </a:r>
          </a:p>
          <a:p xmlns:a="http://schemas.openxmlformats.org/drawingml/2006/main">
            <a:r>
              <a:t/>
            </a:r>
          </a:p>
          <a:p xmlns:a="http://schemas.openxmlformats.org/drawingml/2006/main">
            <a:r>
              <a:t>COMPANION</a:t>
            </a:r>
          </a:p>
          <a:p xmlns:a="http://schemas.openxmlformats.org/drawingml/2006/main">
            <a:r>
              <a:t>https://amaranth.unm.edu/reliable-ai/sessions/editorial-assistant#step-2</a:t>
            </a:r>
          </a:p>
          <a:p xmlns:a="http://schemas.openxmlformats.org/drawingml/2006/main">
            <a:r>
              <a:t/>
            </a:r>
          </a:p>
          <a:p xmlns:a="http://schemas.openxmlformats.org/drawingml/2006/main">
            <a:r>
              <a:t>SOURCE IDS</a:t>
            </a:r>
          </a:p>
          <a:p xmlns:a="http://schemas.openxmlformats.org/drawingml/2006/main">
            <a:r>
              <a:t>quote-it, policy-vague, policy-quoted</a:t>
            </a:r>
          </a:p>
          <a:p xmlns:a="http://schemas.openxmlformats.org/drawingml/2006/main">
            <a:r>
              <a:t>Source files: /Users/fwgibbs/Dropbox/websites/amaranth/reliable-ai/_data/prompts.yml and /Users/fwgibbs/Dropbox/websites/amaranth/reliable-ai/_data/demos.yml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13–16 minutes (3 minutes)</a:t>
            </a:r>
          </a:p>
          <a:p xmlns:a="http://schemas.openxmlformats.org/drawingml/2006/main">
            <a:r>
              <a:t/>
            </a:r>
          </a:p>
          <a:p xmlns:a="http://schemas.openxmlformats.org/drawingml/2006/main">
            <a:r>
              <a:t>This is the rules-and-style-guide topic promised on the flyer. The right side is an example of a file the author chooses and saves. It is not an AI transcript. Explain the difference between the brief for a particular document and standing preferences. Copying this short file into a new conversation is enough to start. Optional platform-specific project setup belongs in the full tutorial. Ask for one recurring annoyance from the room. A style guide can begin with four lines and grow from actual corrections.</a:t>
            </a:r>
          </a:p>
          <a:p xmlns:a="http://schemas.openxmlformats.org/drawingml/2006/main">
            <a:r>
              <a:t/>
            </a:r>
          </a:p>
          <a:p xmlns:a="http://schemas.openxmlformats.org/drawingml/2006/main">
            <a:r>
              <a:t>DISPLAYED PROMPT</a:t>
            </a:r>
          </a:p>
          <a:p xmlns:a="http://schemas.openxmlformats.org/drawingml/2006/main">
            <a:r>
              <a:t>Comment; don’t rewrite.</a:t>
            </a:r>
          </a:p>
          <a:p xmlns:a="http://schemas.openxmlformats.org/drawingml/2006/main">
            <a:r>
              <a:t>Quote the passage you mean.</a:t>
            </a:r>
          </a:p>
          <a:p xmlns:a="http://schemas.openxmlformats.org/drawingml/2006/main">
            <a:r>
              <a:t>Say what confused you.</a:t>
            </a:r>
          </a:p>
          <a:p xmlns:a="http://schemas.openxmlformats.org/drawingml/2006/main">
            <a:r>
              <a:t/>
            </a:r>
          </a:p>
          <a:p xmlns:a="http://schemas.openxmlformats.org/drawingml/2006/main">
            <a:r>
              <a:t>If you’re unsure of my purpose, ask before diagnosing.</a:t>
            </a:r>
          </a:p>
          <a:p xmlns:a="http://schemas.openxmlformats.org/drawingml/2006/main">
            <a:r>
              <a:t/>
            </a:r>
          </a:p>
          <a:p xmlns:a="http://schemas.openxmlformats.org/drawingml/2006/main">
            <a:r>
              <a:t>Apply my style sheet below.</a:t>
            </a:r>
          </a:p>
          <a:p xmlns:a="http://schemas.openxmlformats.org/drawingml/2006/main">
            <a:r>
              <a:t/>
            </a:r>
          </a:p>
          <a:p xmlns:a="http://schemas.openxmlformats.org/drawingml/2006/main">
            <a:r>
              <a:t>FULL PROMPT</a:t>
            </a:r>
          </a:p>
          <a:p xmlns:a="http://schemas.openxmlformats.org/drawingml/2006/main">
            <a:r>
              <a:t>When I bring you my writing, you are my editor, not my ghostwriter.</a:t>
            </a:r>
          </a:p>
          <a:p xmlns:a="http://schemas.openxmlformats.org/drawingml/2006/main">
            <a:r>
              <a:t/>
            </a:r>
          </a:p>
          <a:p xmlns:a="http://schemas.openxmlformats.org/drawingml/2006/main">
            <a:r>
              <a:t>Comment; don’t rewrite.</a:t>
            </a:r>
          </a:p>
          <a:p xmlns:a="http://schemas.openxmlformats.org/drawingml/2006/main">
            <a:r>
              <a:t>Quote the text you’re commenting on.</a:t>
            </a:r>
          </a:p>
          <a:p xmlns:a="http://schemas.openxmlformats.org/drawingml/2006/main">
            <a:r>
              <a:t>Say what confused you.</a:t>
            </a:r>
          </a:p>
          <a:p xmlns:a="http://schemas.openxmlformats.org/drawingml/2006/main">
            <a:r>
              <a:t>If you’re unsure what I’m trying to do, ask before diagnosing.</a:t>
            </a:r>
          </a:p>
          <a:p xmlns:a="http://schemas.openxmlformats.org/drawingml/2006/main">
            <a:r>
              <a:t/>
            </a:r>
          </a:p>
          <a:p xmlns:a="http://schemas.openxmlformats.org/drawingml/2006/main">
            <a:r>
              <a:t>Then apply my style sheet below.</a:t>
            </a:r>
          </a:p>
          <a:p xmlns:a="http://schemas.openxmlformats.org/drawingml/2006/main">
            <a:r>
              <a:t/>
            </a:r>
          </a:p>
          <a:p xmlns:a="http://schemas.openxmlformats.org/drawingml/2006/main">
            <a:r>
              <a:t>COMPANION</a:t>
            </a:r>
          </a:p>
          <a:p xmlns:a="http://schemas.openxmlformats.org/drawingml/2006/main">
            <a:r>
              <a:t>https://amaranth.unm.edu/reliable-ai/sessions/editorial-assistant#step-5</a:t>
            </a:r>
          </a:p>
          <a:p xmlns:a="http://schemas.openxmlformats.org/drawingml/2006/main">
            <a:r>
              <a:t/>
            </a:r>
          </a:p>
          <a:p xmlns:a="http://schemas.openxmlformats.org/drawingml/2006/main">
            <a:r>
              <a:t>SOURCE IDS</a:t>
            </a:r>
          </a:p>
          <a:p xmlns:a="http://schemas.openxmlformats.org/drawingml/2006/main">
            <a:r>
              <a:t>standing-instruction</a:t>
            </a:r>
          </a:p>
          <a:p xmlns:a="http://schemas.openxmlformats.org/drawingml/2006/main">
            <a:r>
              <a:t>Source files: /Users/fwgibbs/Dropbox/websites/amaranth/reliable-ai/_data/prompts.yml and /Users/fwgibbs/Dropbox/websites/amaranth/reliable-ai/_data/demos.yml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16–18 minutes (2 minutes)</a:t>
            </a:r>
          </a:p>
          <a:p xmlns:a="http://schemas.openxmlformats.org/drawingml/2006/main">
            <a:r>
              <a:t/>
            </a:r>
          </a:p>
          <a:p xmlns:a="http://schemas.openxmlformats.org/drawingml/2006/main">
            <a:r>
              <a:t>Ask the audience how they would know the first rule had been followed. Then discuss the concrete test in the second. The right side is a prepared example, not an observed model response. Mention that rules are instructions to evaluate, not guarantees of compliance. If someone asks about extracting style from their writing, point to style-extract in the tutorial: supply a few representative passages, review the proposed rules, and retain only those you endorse.</a:t>
            </a:r>
          </a:p>
          <a:p xmlns:a="http://schemas.openxmlformats.org/drawingml/2006/main">
            <a:r>
              <a:t/>
            </a:r>
          </a:p>
          <a:p xmlns:a="http://schemas.openxmlformats.org/drawingml/2006/main">
            <a:r>
              <a:t>DISPLAYED PROMPT</a:t>
            </a:r>
          </a:p>
          <a:p xmlns:a="http://schemas.openxmlformats.org/drawingml/2006/main">
            <a:r>
              <a:t>Here is a rule for my style sheet:</a:t>
            </a:r>
          </a:p>
          <a:p xmlns:a="http://schemas.openxmlformats.org/drawingml/2006/main">
            <a:r>
              <a:t/>
            </a:r>
          </a:p>
          <a:p xmlns:a="http://schemas.openxmlformats.org/drawingml/2006/main">
            <a:r>
              <a:t>“Keep my academic voice.”</a:t>
            </a:r>
          </a:p>
          <a:p xmlns:a="http://schemas.openxmlformats.org/drawingml/2006/main">
            <a:r>
              <a:t/>
            </a:r>
          </a:p>
          <a:p xmlns:a="http://schemas.openxmlformats.org/drawingml/2006/main">
            <a:r>
              <a:t>Could someone who doesn’t know me tell whether this rule was followed, looking only at the text? If not, rewrite it as a specific action to take or avoid.</a:t>
            </a:r>
          </a:p>
          <a:p xmlns:a="http://schemas.openxmlformats.org/drawingml/2006/main">
            <a:r>
              <a:t/>
            </a:r>
          </a:p>
          <a:p xmlns:a="http://schemas.openxmlformats.org/drawingml/2006/main">
            <a:r>
              <a:t>COMPANION</a:t>
            </a:r>
          </a:p>
          <a:p xmlns:a="http://schemas.openxmlformats.org/drawingml/2006/main">
            <a:r>
              <a:t>https://amaranth.unm.edu/reliable-ai/sessions/editorial-assistant#step-4</a:t>
            </a:r>
          </a:p>
          <a:p xmlns:a="http://schemas.openxmlformats.org/drawingml/2006/main">
            <a:r>
              <a:t/>
            </a:r>
          </a:p>
          <a:p xmlns:a="http://schemas.openxmlformats.org/drawingml/2006/main">
            <a:r>
              <a:t>SOURCE IDS</a:t>
            </a:r>
          </a:p>
          <a:p xmlns:a="http://schemas.openxmlformats.org/drawingml/2006/main">
            <a:r>
              <a:t>rule-sharpen, style-extract</a:t>
            </a:r>
          </a:p>
          <a:p xmlns:a="http://schemas.openxmlformats.org/drawingml/2006/main">
            <a:r>
              <a:t>Source files: /Users/fwgibbs/Dropbox/websites/amaranth/reliable-ai/_data/prompts.yml and /Users/fwgibbs/Dropbox/websites/amaranth/reliable-ai/_data/demos.yml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18–21 minutes (3 minutes)</a:t>
            </a:r>
          </a:p>
          <a:p xmlns:a="http://schemas.openxmlformats.org/drawingml/2006/main">
            <a:r>
              <a:t/>
            </a:r>
          </a:p>
          <a:p xmlns:a="http://schemas.openxmlformats.org/drawingml/2006/main">
            <a:r>
              <a:t>This is a brief application of explicit rules. The talk entries are fictional. The approved guide is year first, title second, event type third, periods between fields, and initial capitals for event types. Dates and titles remain unchanged. Do not invent missing venues or other facts. Show how an audit leads to a style decision and then a controlled formatting pass. An assistant may change layout after you approve the rule. The reader-first theme concerns who makes the decision. The display is a prepared before/after example, not an observed model output. File manipulation depends on the tool, so use a copy and inspect the result. Full two-stage prompts and a larger fictional specimen are in the presenter guide.</a:t>
            </a:r>
          </a:p>
          <a:p xmlns:a="http://schemas.openxmlformats.org/drawingml/2006/main">
            <a:r>
              <a:t/>
            </a:r>
          </a:p>
          <a:p xmlns:a="http://schemas.openxmlformats.org/drawingml/2006/main">
            <a:r>
              <a:t>DISPLAYED PROMPT</a:t>
            </a:r>
          </a:p>
          <a:p xmlns:a="http://schemas.openxmlformats.org/drawingml/2006/main">
            <a:r>
              <a:t>Find inconsistent formatting in this CV and propose a style guide.</a:t>
            </a:r>
          </a:p>
          <a:p xmlns:a="http://schemas.openxmlformats.org/drawingml/2006/main">
            <a:r>
              <a:t/>
            </a:r>
          </a:p>
          <a:p xmlns:a="http://schemas.openxmlformats.org/drawingml/2006/main">
            <a:r>
              <a:t>Preserve all names, titles, dates, and publication statuses. Flag missing information.</a:t>
            </a:r>
          </a:p>
          <a:p xmlns:a="http://schemas.openxmlformats.org/drawingml/2006/main">
            <a:r>
              <a:t/>
            </a:r>
          </a:p>
          <a:p xmlns:a="http://schemas.openxmlformats.org/drawingml/2006/main">
            <a:r>
              <a:t>After I approve the guide, apply it to a copy and list the changes.</a:t>
            </a:r>
          </a:p>
          <a:p xmlns:a="http://schemas.openxmlformats.org/drawingml/2006/main">
            <a:r>
              <a:t/>
            </a:r>
          </a:p>
          <a:p xmlns:a="http://schemas.openxmlformats.org/drawingml/2006/main">
            <a:r>
              <a:t>FULL PROMPT</a:t>
            </a:r>
          </a:p>
          <a:p xmlns:a="http://schemas.openxmlformats.org/drawingml/2006/main">
            <a:r>
              <a:t>Review this CV for inconsistent formatting. List the inconsistencies and propose a short style guide.</a:t>
            </a:r>
          </a:p>
          <a:p xmlns:a="http://schemas.openxmlformats.org/drawingml/2006/main">
            <a:r>
              <a:t/>
            </a:r>
          </a:p>
          <a:p xmlns:a="http://schemas.openxmlformats.org/drawingml/2006/main">
            <a:r>
              <a:t>Preserve every name, title, date, and publication status. Flag missing information.</a:t>
            </a:r>
          </a:p>
          <a:p xmlns:a="http://schemas.openxmlformats.org/drawingml/2006/main">
            <a:r>
              <a:t/>
            </a:r>
          </a:p>
          <a:p xmlns:a="http://schemas.openxmlformats.org/drawingml/2006/main">
            <a:r>
              <a:t>After I approve the guide, apply formatting changes to a copy and list what changed.</a:t>
            </a:r>
          </a:p>
          <a:p xmlns:a="http://schemas.openxmlformats.org/drawingml/2006/main">
            <a:r>
              <a:t/>
            </a:r>
          </a:p>
          <a:p xmlns:a="http://schemas.openxmlformats.org/drawingml/2006/main">
            <a:r>
              <a:t>COMPANION</a:t>
            </a:r>
          </a:p>
          <a:p xmlns:a="http://schemas.openxmlformats.org/drawingml/2006/main">
            <a:r>
              <a:t>New CV example; full prompts in presenter guide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21–24 minutes (3 minutes)</a:t>
            </a:r>
          </a:p>
          <a:p xmlns:a="http://schemas.openxmlformats.org/drawingml/2006/main">
            <a:r>
              <a:t/>
            </a:r>
          </a:p>
          <a:p xmlns:a="http://schemas.openxmlformats.org/drawingml/2006/main">
            <a:r>
              <a:t>Reintroduce the same policy from slide 2. Ask what this perspective helps the author notice. Treat the response as a possible reaction, not evidence of what actual students think. The original source run adapted assignment to syllabus policy; the displayed prompt is a shorter adaptation. The source excerpt is unchanged. The source data attributes this reply to Claude Opus 5 on 2026-09-22. Its provenance note says it was generated in the authoring conversation, with prior discussion of the intended lesson. This is a provisional source example, not an independently rerun demonstration. Selected excerpts preserve the source wording and order. […] marks an internal cut.</a:t>
            </a:r>
          </a:p>
          <a:p xmlns:a="http://schemas.openxmlformats.org/drawingml/2006/main">
            <a:r>
              <a:t/>
            </a:r>
          </a:p>
          <a:p xmlns:a="http://schemas.openxmlformats.org/drawingml/2006/main">
            <a:r>
              <a:t>DISPLAYED PROMPT</a:t>
            </a:r>
          </a:p>
          <a:p xmlns:a="http://schemas.openxmlformats.org/drawingml/2006/main">
            <a:r>
              <a:t>Here is a syllabus policy I give to undergraduates. Read it as a sophomore who wants a good grade and is reading it for the first time.</a:t>
            </a:r>
          </a:p>
          <a:p xmlns:a="http://schemas.openxmlformats.org/drawingml/2006/main">
            <a:r>
              <a:t/>
            </a:r>
          </a:p>
          <a:p xmlns:a="http://schemas.openxmlformats.org/drawingml/2006/main">
            <a:r>
              <a:t>Don’t improve it. Tell me what you think I’m asking for, what you would do first, and what you are unsure about.</a:t>
            </a:r>
          </a:p>
          <a:p xmlns:a="http://schemas.openxmlformats.org/drawingml/2006/main">
            <a:r>
              <a:t/>
            </a:r>
          </a:p>
          <a:p xmlns:a="http://schemas.openxmlformats.org/drawingml/2006/main">
            <a:r>
              <a:t>COMPANION</a:t>
            </a:r>
          </a:p>
          <a:p xmlns:a="http://schemas.openxmlformats.org/drawingml/2006/main">
            <a:r>
              <a:t>https://amaranth.unm.edu/reliable-ai/sessions/editorial-assistant#step-3</a:t>
            </a:r>
          </a:p>
          <a:p xmlns:a="http://schemas.openxmlformats.org/drawingml/2006/main">
            <a:r>
              <a:t/>
            </a:r>
          </a:p>
          <a:p xmlns:a="http://schemas.openxmlformats.org/drawingml/2006/main">
            <a:r>
              <a:t>SOURCE IDS</a:t>
            </a:r>
          </a:p>
          <a:p xmlns:a="http://schemas.openxmlformats.org/drawingml/2006/main">
            <a:r>
              <a:t>role-confused-student, policy-student</a:t>
            </a:r>
          </a:p>
          <a:p xmlns:a="http://schemas.openxmlformats.org/drawingml/2006/main">
            <a:r>
              <a:t>Source files: /Users/fwgibbs/Dropbox/websites/amaranth/reliable-ai/_data/prompts.yml and /Users/fwgibbs/Dropbox/websites/amaranth/reliable-ai/_data/demos.yml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24–27 minutes (3 minutes)</a:t>
            </a:r>
          </a:p>
          <a:p xmlns:a="http://schemas.openxmlformats.org/drawingml/2006/main">
            <a:r>
              <a:t/>
            </a:r>
          </a:p>
          <a:p xmlns:a="http://schemas.openxmlformats.org/drawingml/2006/main">
            <a:r>
              <a:t>Ask the audience to identify the actual authorial decision: what definition or examples would make the policy actionable? The reader role helps generate a question, but its guesses are not evidence about students or the institution. Use the same text and brief when comparing roles. Do not promise that two runs will produce these exact differences. The source data attributes this reply to Claude Opus 5 on 2026-09-22. Its provenance note says it was generated in the authoring conversation, with prior discussion of the intended lesson. This is a provisional source example, not an independently rerun demonstration. Selected excerpts preserve the source wording and order. […] marks an internal cut.</a:t>
            </a:r>
          </a:p>
          <a:p xmlns:a="http://schemas.openxmlformats.org/drawingml/2006/main">
            <a:r>
              <a:t/>
            </a:r>
          </a:p>
          <a:p xmlns:a="http://schemas.openxmlformats.org/drawingml/2006/main">
            <a:r>
              <a:t>DISPLAYED PROMPT</a:t>
            </a:r>
          </a:p>
          <a:p xmlns:a="http://schemas.openxmlformats.org/drawingml/2006/main">
            <a:r>
              <a:t>Read this as a smart graduate student from a different discipline. Don’t fix anything. Tell me every point where you had to guess what I meant, and what you guessed.</a:t>
            </a:r>
          </a:p>
          <a:p xmlns:a="http://schemas.openxmlformats.org/drawingml/2006/main">
            <a:r>
              <a:t/>
            </a:r>
          </a:p>
          <a:p xmlns:a="http://schemas.openxmlformats.org/drawingml/2006/main">
            <a:r>
              <a:t>COMPANION</a:t>
            </a:r>
          </a:p>
          <a:p xmlns:a="http://schemas.openxmlformats.org/drawingml/2006/main">
            <a:r>
              <a:t>https://amaranth.unm.edu/reliable-ai/sessions/editorial-assistant#step-3</a:t>
            </a:r>
          </a:p>
          <a:p xmlns:a="http://schemas.openxmlformats.org/drawingml/2006/main">
            <a:r>
              <a:t/>
            </a:r>
          </a:p>
          <a:p xmlns:a="http://schemas.openxmlformats.org/drawingml/2006/main">
            <a:r>
              <a:t>SOURCE IDS</a:t>
            </a:r>
          </a:p>
          <a:p xmlns:a="http://schemas.openxmlformats.org/drawingml/2006/main">
            <a:r>
              <a:t>role-outsider, policy-outsider</a:t>
            </a:r>
          </a:p>
          <a:p xmlns:a="http://schemas.openxmlformats.org/drawingml/2006/main">
            <a:r>
              <a:t>Source files: /Users/fwgibbs/Dropbox/websites/amaranth/reliable-ai/_data/prompts.yml and /Users/fwgibbs/Dropbox/websites/amaranth/reliable-ai/_data/demos.yml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11. 27–30 minutes (3 minutes)</a:t>
            </a:r>
          </a:p>
          <a:p xmlns:a="http://schemas.openxmlformats.org/drawingml/2006/main">
            <a:r>
              <a:t/>
            </a:r>
          </a:p>
          <a:p xmlns:a="http://schemas.openxmlformats.org/drawingml/2006/main">
            <a:r>
              <a:t>Let the room challenge the apparent choice. The response may raise a useful tension, but instruction and enforcement are not necessarily incompatible. The outsider reply also did not explicitly say it accepted ask before submitting as a remedy. Do not silently adopt the comparison’s interpretation. Return to the two source readings. These are generated perspectives, not independent human reviewers whose agreement validates a claim. This is the second deliberate accept-or-reject moment. The source data attributes this reply to Claude Opus 5 on 2026-09-22. Its provenance note says it was generated in the authoring conversation, with prior discussion of the intended lesson. This is a provisional source example, not an independently rerun demonstration. Selected excerpts preserve the source wording and order. […] marks an internal cut.</a:t>
            </a:r>
          </a:p>
          <a:p xmlns:a="http://schemas.openxmlformats.org/drawingml/2006/main">
            <a:r>
              <a:t/>
            </a:r>
          </a:p>
          <a:p xmlns:a="http://schemas.openxmlformats.org/drawingml/2006/main">
            <a:r>
              <a:t>DISPLAYED PROMPT</a:t>
            </a:r>
          </a:p>
          <a:p xmlns:a="http://schemas.openxmlformats.org/drawingml/2006/main">
            <a:r>
              <a:t>Compare those readings. Where did the two readers disagree about what the problem was? Don’t resolve the disagreement. Tell me what it suggests I haven’t decided yet.</a:t>
            </a:r>
          </a:p>
          <a:p xmlns:a="http://schemas.openxmlformats.org/drawingml/2006/main">
            <a:r>
              <a:t/>
            </a:r>
          </a:p>
          <a:p xmlns:a="http://schemas.openxmlformats.org/drawingml/2006/main">
            <a:r>
              <a:t>COMPANION</a:t>
            </a:r>
          </a:p>
          <a:p xmlns:a="http://schemas.openxmlformats.org/drawingml/2006/main">
            <a:r>
              <a:t>https://amaranth.unm.edu/reliable-ai/sessions/editorial-assistant#step-3</a:t>
            </a:r>
          </a:p>
          <a:p xmlns:a="http://schemas.openxmlformats.org/drawingml/2006/main">
            <a:r>
              <a:t/>
            </a:r>
          </a:p>
          <a:p xmlns:a="http://schemas.openxmlformats.org/drawingml/2006/main">
            <a:r>
              <a:t>SOURCE IDS</a:t>
            </a:r>
          </a:p>
          <a:p xmlns:a="http://schemas.openxmlformats.org/drawingml/2006/main">
            <a:r>
              <a:t>compare-readers, policy-compare</a:t>
            </a:r>
          </a:p>
          <a:p xmlns:a="http://schemas.openxmlformats.org/drawingml/2006/main">
            <a:r>
              <a:t>Source files: /Users/fwgibbs/Dropbox/websites/amaranth/reliable-ai/_data/prompts.yml and /Users/fwgibbs/Dropbox/websites/amaranth/reliable-ai/_data/demos.yml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12. 30–33 minutes (3 minutes)</a:t>
            </a:r>
          </a:p>
          <a:p xmlns:a="http://schemas.openxmlformats.org/drawingml/2006/main">
            <a:r>
              <a:t/>
            </a:r>
          </a:p>
          <a:p xmlns:a="http://schemas.openxmlformats.org/drawingml/2006/main">
            <a:r>
              <a:t>Explain the requested artifact: a copy of the document whose original text is intact and whose comments attach to exact phrases. The prepared annotation shows the desired form. Do not claim that every assistant or free tier can create native Word comments. Test the intended tool with a non-sensitive copy first. If it can only return text, a passage/comment table preserves the reading workflow. The user should inspect each comment and make their own revision. This slide illustrates a proposed demonstration; it does not document a completed live product run.</a:t>
            </a:r>
          </a:p>
          <a:p xmlns:a="http://schemas.openxmlformats.org/drawingml/2006/main">
            <a:r>
              <a:t/>
            </a:r>
          </a:p>
          <a:p xmlns:a="http://schemas.openxmlformats.org/drawingml/2006/main">
            <a:r>
              <a:t>DISPLAYED PROMPT</a:t>
            </a:r>
          </a:p>
          <a:p xmlns:a="http://schemas.openxmlformats.org/drawingml/2006/main">
            <a:r>
              <a:t>Read as a student encountering this text.</a:t>
            </a:r>
          </a:p>
          <a:p xmlns:a="http://schemas.openxmlformats.org/drawingml/2006/main">
            <a:r>
              <a:t>Add comments at confusing passages.</a:t>
            </a:r>
          </a:p>
          <a:p xmlns:a="http://schemas.openxmlformats.org/drawingml/2006/main">
            <a:r>
              <a:t>Explain what is unclear and ask a question.</a:t>
            </a:r>
          </a:p>
          <a:p xmlns:a="http://schemas.openxmlformats.org/drawingml/2006/main">
            <a:r>
              <a:t>Keep all text and formatting unchanged.</a:t>
            </a:r>
          </a:p>
          <a:p xmlns:a="http://schemas.openxmlformats.org/drawingml/2006/main">
            <a:r>
              <a:t>Return a copy with comments.</a:t>
            </a:r>
          </a:p>
          <a:p xmlns:a="http://schemas.openxmlformats.org/drawingml/2006/main">
            <a:r>
              <a:t/>
            </a:r>
          </a:p>
          <a:p xmlns:a="http://schemas.openxmlformats.org/drawingml/2006/main">
            <a:r>
              <a:t>FULL PROMPT</a:t>
            </a:r>
          </a:p>
          <a:p xmlns:a="http://schemas.openxmlformats.org/drawingml/2006/main">
            <a:r>
              <a:t>Read the attached document as a first-time student reader. Add comments anchored to the exact passages that confuse you.</a:t>
            </a:r>
          </a:p>
          <a:p xmlns:a="http://schemas.openxmlformats.org/drawingml/2006/main">
            <a:r>
              <a:t/>
            </a:r>
          </a:p>
          <a:p xmlns:a="http://schemas.openxmlformats.org/drawingml/2006/main">
            <a:r>
              <a:t>Describe the uncertainty and ask a question for the author. Preserve the text and formatting. Return a copy with comments.</a:t>
            </a:r>
          </a:p>
          <a:p xmlns:a="http://schemas.openxmlformats.org/drawingml/2006/main">
            <a:r>
              <a:t/>
            </a:r>
          </a:p>
          <a:p xmlns:a="http://schemas.openxmlformats.org/drawingml/2006/main">
            <a:r>
              <a:t>If you can’t add Word comments, return a passage/comment table.</a:t>
            </a:r>
          </a:p>
          <a:p xmlns:a="http://schemas.openxmlformats.org/drawingml/2006/main">
            <a:r>
              <a:t/>
            </a:r>
          </a:p>
          <a:p xmlns:a="http://schemas.openxmlformats.org/drawingml/2006/main">
            <a:r>
              <a:t>COMPANION</a:t>
            </a:r>
          </a:p>
          <a:p xmlns:a="http://schemas.openxmlformats.org/drawingml/2006/main">
            <a:r>
              <a:t>New Word example; full prompt in presenter guide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13. 33–36 minutes (3 minutes)</a:t>
            </a:r>
          </a:p>
          <a:p xmlns:a="http://schemas.openxmlformats.org/drawingml/2006/main">
            <a:r>
              <a:t/>
            </a:r>
          </a:p>
          <a:p xmlns:a="http://schemas.openxmlformats.org/drawingml/2006/main">
            <a:r>
              <a:t>Allow about 90 seconds of quiet work or discussion with a neighbor, then hear two responses. Nobody needs to log in to contribute. People who already have an output can try an alternate reader perspective. Keep the task to a judgment about one finding, rather than racing through the entire tutorial. Use only material appropriate to share with the selected tool.</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14. 36–38 minutes (2 minutes)</a:t>
            </a:r>
          </a:p>
          <a:p xmlns:a="http://schemas.openxmlformats.org/drawingml/2006/main">
            <a:r>
              <a:t/>
            </a:r>
          </a:p>
          <a:p xmlns:a="http://schemas.openxmlformats.org/drawingml/2006/main">
            <a:r>
              <a:t>Reconnect the three promised topics. Ask participants to save the brief or rule they would actually reuse. The page contains additional prompts, style extraction, rule testing, and file workflow advice. The live session has sampled the method. Avoid an additional lecture on product setup here.</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15. 38–39 minutes (1 minutes)</a:t>
            </a:r>
          </a:p>
          <a:p xmlns:a="http://schemas.openxmlformats.org/drawingml/2006/main">
            <a:r>
              <a:t/>
            </a:r>
          </a:p>
          <a:p xmlns:a="http://schemas.openxmlformats.org/drawingml/2006/main">
            <a:r>
              <a:t>The webpage is the durable tutorial for people who missed the session or want to go farther. The slide sequence highlights selected prompts and need not reproduce the full tutorial. The CV and Word prompts are new draft additions in the presenter guide. They can join the tutorial after the examples and selected tools have been tested.</a:t>
            </a:r>
          </a:p>
          <a:p xmlns:a="http://schemas.openxmlformats.org/drawingml/2006/main">
            <a:r>
              <a:t/>
            </a:r>
          </a:p>
          <a:p xmlns:a="http://schemas.openxmlformats.org/drawingml/2006/main">
            <a:r>
              <a:t>COMPANION</a:t>
            </a:r>
          </a:p>
          <a:p xmlns:a="http://schemas.openxmlformats.org/drawingml/2006/main">
            <a:r>
              <a:t>https://amaranth.unm.edu/reliable-ai</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16. 39–45 minutes (6 minutes)</a:t>
            </a:r>
          </a:p>
          <a:p xmlns:a="http://schemas.openxmlformats.org/drawingml/2006/main">
            <a:r>
              <a:t/>
            </a:r>
          </a:p>
          <a:p xmlns:a="http://schemas.openxmlformats.org/drawingml/2006/main">
            <a:r>
              <a:t>Invite questions grounded in a real task. If the discussion turns into a general debate about AI, connect it to one observable choice from the demonstration: what was asked, what came back, and how we judged it. Close at 45 minutes.</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697f100d55428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1a9ed6735c4401" /><Relationship Type="http://schemas.openxmlformats.org/officeDocument/2006/relationships/slideLayout" Target="/ppt/slideLayouts/slideLayout1.xml" Id="Rdfb32c5cd8f545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b32c5cd8f545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93e663cf226461c" /><Relationship Type="http://schemas.openxmlformats.org/officeDocument/2006/relationships/notesSlide" Target="/ppt/notesSlides/notesSlide1.xml" Id="R65b009916bf543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8a75c0d94d42c9" /><Relationship Type="http://schemas.openxmlformats.org/officeDocument/2006/relationships/notesSlide" Target="/ppt/notesSlides/notesSlide2.xml" Id="R8fac228b92e047c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d21396695b4452" /><Relationship Type="http://schemas.openxmlformats.org/officeDocument/2006/relationships/image" Target="/ppt/media/image.png" Id="R2f1cbde9e0064c2b" /><Relationship Type="http://schemas.openxmlformats.org/officeDocument/2006/relationships/notesSlide" Target="/ppt/notesSlides/notesSlide3.xml" Id="R3df8bb76753d44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5c21ca7d86346f8" /><Relationship Type="http://schemas.openxmlformats.org/officeDocument/2006/relationships/image" Target="/ppt/media/image2.png" Id="Rd0c17980410844a1" /><Relationship Type="http://schemas.openxmlformats.org/officeDocument/2006/relationships/notesSlide" Target="/ppt/notesSlides/notesSlide4.xml" Id="R982693fd8d724e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f1a587dcf0f47f9" /><Relationship Type="http://schemas.openxmlformats.org/officeDocument/2006/relationships/image" Target="/ppt/media/image3.png" Id="Ra106d3b574a14801" /><Relationship Type="http://schemas.openxmlformats.org/officeDocument/2006/relationships/notesSlide" Target="/ppt/notesSlides/notesSlide5.xml" Id="Rcf68706a8af946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50169e4fec24fd0" /><Relationship Type="http://schemas.openxmlformats.org/officeDocument/2006/relationships/image" Target="/ppt/media/image4.png" Id="R0fb9b944c5f04205" /><Relationship Type="http://schemas.openxmlformats.org/officeDocument/2006/relationships/notesSlide" Target="/ppt/notesSlides/notesSlide6.xml" Id="Ra445779eecfb4d2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76eb1063934db8" /><Relationship Type="http://schemas.openxmlformats.org/officeDocument/2006/relationships/image" Target="/ppt/media/image5.png" Id="R97e27f4740ca416c" /><Relationship Type="http://schemas.openxmlformats.org/officeDocument/2006/relationships/notesSlide" Target="/ppt/notesSlides/notesSlide7.xml" Id="R8288acaaf8a24cf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e5fde8933b463f" /><Relationship Type="http://schemas.openxmlformats.org/officeDocument/2006/relationships/image" Target="/ppt/media/image6.png" Id="R8c2f9dceb62e4bbd" /><Relationship Type="http://schemas.openxmlformats.org/officeDocument/2006/relationships/notesSlide" Target="/ppt/notesSlides/notesSlide8.xml" Id="Rf3455ee79a9d43d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c8abf4a167749cf" /><Relationship Type="http://schemas.openxmlformats.org/officeDocument/2006/relationships/image" Target="/ppt/media/image7.png" Id="R355e1b65c18744dd" /><Relationship Type="http://schemas.openxmlformats.org/officeDocument/2006/relationships/notesSlide" Target="/ppt/notesSlides/notesSlide9.xml" Id="Rd8c809ca0a834bd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2b92a5c813451d" /><Relationship Type="http://schemas.openxmlformats.org/officeDocument/2006/relationships/image" Target="/ppt/media/image8.png" Id="Rcc18d4dbee5a438f" /><Relationship Type="http://schemas.openxmlformats.org/officeDocument/2006/relationships/notesSlide" Target="/ppt/notesSlides/notesSlide10.xml" Id="R9a9ff349392842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75502ac724542ee" /><Relationship Type="http://schemas.openxmlformats.org/officeDocument/2006/relationships/image" Target="/ppt/media/image9.png" Id="Rbca39039ac1f49b8" /><Relationship Type="http://schemas.openxmlformats.org/officeDocument/2006/relationships/notesSlide" Target="/ppt/notesSlides/notesSlide11.xml" Id="Rd847c7deda7a45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12d934108fe425b" /><Relationship Type="http://schemas.openxmlformats.org/officeDocument/2006/relationships/image" Target="/ppt/media/image10.png" Id="R0441a0676e274a95" /><Relationship Type="http://schemas.openxmlformats.org/officeDocument/2006/relationships/notesSlide" Target="/ppt/notesSlides/notesSlide12.xml" Id="Rc4f06ab041334f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de4ae2db6574653" /><Relationship Type="http://schemas.openxmlformats.org/officeDocument/2006/relationships/notesSlide" Target="/ppt/notesSlides/notesSlide13.xml" Id="R6f7dcb4ca0a245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d89e0cb87c7400e" /><Relationship Type="http://schemas.openxmlformats.org/officeDocument/2006/relationships/notesSlide" Target="/ppt/notesSlides/notesSlide14.xml" Id="R4a96f56bd82844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c0e5e16f60d4fc9" /><Relationship Type="http://schemas.openxmlformats.org/officeDocument/2006/relationships/notesSlide" Target="/ppt/notesSlides/notesSlide15.xml" Id="R50a1e9a6f7a1497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ed04b929d4b483a" /><Relationship Type="http://schemas.openxmlformats.org/officeDocument/2006/relationships/notesSlide" Target="/ppt/notesSlides/notesSlide16.xml" Id="R03ebf5d622af4ca6" /></Relationships>
</file>

<file path=ppt/slides/slide1.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7" name="AMARANTH BROWN BAG">
            <a:extLst xmlns:a="http://schemas.openxmlformats.org/drawingml/2006/main">
              <a:ext uri="{FF2B5EF4-FFF2-40B4-BE49-F238E27FC236}">
                <a16:creationId xmlns:a16="http://schemas.microsoft.com/office/drawing/2014/main" id="{B2041BD4-ABB2-4345-B915-72B01C05B5CB}"/>
              </a:ext>
            </a:extLst>
          </p:cNvPr>
          <p:cNvSpPr>
            <a:spLocks xmlns:a="http://schemas.openxmlformats.org/drawingml/2006/main" noGrp="1"/>
          </p:cNvSpPr>
          <p:nvPr/>
        </p:nvSpPr>
        <p:spPr>
          <a:xfrm xmlns:a="http://schemas.openxmlformats.org/drawingml/2006/main">
            <a:off x="609600" y="59055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650" b="1">
                <a:solidFill>
                  <a:srgbClr val="9A1416"/>
                </a:solidFill>
                <a:latin typeface="Helvetica Neue"/>
                <a:ea typeface="Helvetica Neue"/>
                <a:cs typeface="Helvetica Neue"/>
              </a:defRPr>
            </a:pPr>
            <a:r>
              <a:rPr sz="1650" b="1">
                <a:solidFill>
                  <a:srgbClr val="9A1416"/>
                </a:solidFill>
                <a:latin typeface="Helvetica Neue"/>
                <a:ea typeface="Helvetica Neue"/>
                <a:cs typeface="Helvetica Neue"/>
              </a:rPr>
              <a:t>AMARANTH BROWN BAG</a:t>
            </a:r>
          </a:p>
        </p:txBody>
      </p:sp>
      <p:sp>
        <p:nvSpPr>
          <p:cNvPr id="2" name="AI as editorial assistant">
            <a:extLst xmlns:a="http://schemas.openxmlformats.org/drawingml/2006/main">
              <a:ext uri="{FF2B5EF4-FFF2-40B4-BE49-F238E27FC236}">
                <a16:creationId xmlns:a16="http://schemas.microsoft.com/office/drawing/2014/main" id="{47762D18-B0FB-4682-98EA-E538ABD6132C}"/>
              </a:ext>
            </a:extLst>
          </p:cNvPr>
          <p:cNvSpPr>
            <a:spLocks xmlns:a="http://schemas.openxmlformats.org/drawingml/2006/main" noGrp="1"/>
          </p:cNvSpPr>
          <p:nvPr/>
        </p:nvSpPr>
        <p:spPr>
          <a:xfrm xmlns:a="http://schemas.openxmlformats.org/drawingml/2006/main">
            <a:off x="609600" y="1676400"/>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4725" b="1">
                <a:solidFill>
                  <a:srgbClr val="1C1710"/>
                </a:solidFill>
                <a:latin typeface="Helvetica Neue"/>
                <a:ea typeface="Helvetica Neue"/>
                <a:cs typeface="Helvetica Neue"/>
              </a:defRPr>
            </a:pPr>
            <a:r>
              <a:rPr sz="4725" b="1">
                <a:solidFill>
                  <a:srgbClr val="1C1710"/>
                </a:solidFill>
                <a:latin typeface="Helvetica Neue"/>
                <a:ea typeface="Helvetica Neue"/>
                <a:cs typeface="Helvetica Neue"/>
              </a:rPr>
              <a:t>AI as editorial assistant</a:t>
            </a:r>
          </a:p>
        </p:txBody>
      </p:sp>
      <p:sp>
        <p:nvSpPr>
          <p:cNvPr id="3" name="AI reads. You write.">
            <a:extLst xmlns:a="http://schemas.openxmlformats.org/drawingml/2006/main">
              <a:ext uri="{FF2B5EF4-FFF2-40B4-BE49-F238E27FC236}">
                <a16:creationId xmlns:a16="http://schemas.microsoft.com/office/drawing/2014/main" id="{36B1A382-55E8-407B-8BA1-EC9F8D640D18}"/>
              </a:ext>
            </a:extLst>
          </p:cNvPr>
          <p:cNvSpPr>
            <a:spLocks xmlns:a="http://schemas.openxmlformats.org/drawingml/2006/main" noGrp="1"/>
          </p:cNvSpPr>
          <p:nvPr/>
        </p:nvSpPr>
        <p:spPr>
          <a:xfrm xmlns:a="http://schemas.openxmlformats.org/drawingml/2006/main">
            <a:off x="628650" y="2714625"/>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000" b="0">
                <a:solidFill>
                  <a:srgbClr val="9A1416"/>
                </a:solidFill>
                <a:latin typeface="Helvetica Neue"/>
                <a:ea typeface="Helvetica Neue"/>
                <a:cs typeface="Helvetica Neue"/>
              </a:defRPr>
            </a:pPr>
            <a:r>
              <a:rPr sz="3000" b="0">
                <a:solidFill>
                  <a:srgbClr val="9A1416"/>
                </a:solidFill>
                <a:latin typeface="Helvetica Neue"/>
                <a:ea typeface="Helvetica Neue"/>
                <a:cs typeface="Helvetica Neue"/>
              </a:rPr>
              <a:t>AI reads. You write.</a:t>
            </a:r>
          </a:p>
        </p:txBody>
      </p:sp>
      <p:sp>
        <p:nvSpPr>
          <p:cNvPr id="4" name="Brief the reader&#10;Save your rules an">
            <a:extLst xmlns:a="http://schemas.openxmlformats.org/drawingml/2006/main">
              <a:ext uri="{FF2B5EF4-FFF2-40B4-BE49-F238E27FC236}">
                <a16:creationId xmlns:a16="http://schemas.microsoft.com/office/drawing/2014/main" id="{B2E8AB83-067D-4181-846A-5AD3D17AC60E}"/>
              </a:ext>
            </a:extLst>
          </p:cNvPr>
          <p:cNvSpPr>
            <a:spLocks xmlns:a="http://schemas.openxmlformats.org/drawingml/2006/main" noGrp="1"/>
          </p:cNvSpPr>
          <p:nvPr/>
        </p:nvSpPr>
        <p:spPr>
          <a:xfrm xmlns:a="http://schemas.openxmlformats.org/drawingml/2006/main">
            <a:off x="647700" y="3962400"/>
            <a:ext cx="10191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Brief the reader</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Save your rules and style guide</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Compare different readers</a:t>
            </a:r>
          </a:p>
        </p:txBody>
      </p:sp>
      <p:sp>
        <p:nvSpPr>
          <p:cNvPr id="5" name="Reliable AI for Humanists">
            <a:extLst xmlns:a="http://schemas.openxmlformats.org/drawingml/2006/main">
              <a:ext uri="{FF2B5EF4-FFF2-40B4-BE49-F238E27FC236}">
                <a16:creationId xmlns:a16="http://schemas.microsoft.com/office/drawing/2014/main" id="{0FFB5056-4AC0-4A7E-BDC3-84807BAC2122}"/>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Reliable AI for Humanists</a:t>
            </a:r>
          </a:p>
        </p:txBody>
      </p:sp>
      <p:sp>
        <p:nvSpPr>
          <p:cNvPr id="6" name="01">
            <a:extLst xmlns:a="http://schemas.openxmlformats.org/drawingml/2006/main">
              <a:ext uri="{FF2B5EF4-FFF2-40B4-BE49-F238E27FC236}">
                <a16:creationId xmlns:a16="http://schemas.microsoft.com/office/drawing/2014/main" id="{CBF483FA-3E7F-446F-8EE5-CF327DE72024}"/>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01</a:t>
            </a:r>
          </a:p>
        </p:txBody>
      </p:sp>
    </p:spTree>
    <p:extLst>
      <p:ext uri="{BB962C8B-B14F-4D97-AF65-F5344CB8AC3E}">
        <p14:creationId xmlns:p14="http://schemas.microsoft.com/office/powerpoint/2010/main" val="267438511"/>
      </p:ext>
    </p:extLst>
  </p:cSld>
</p:sld>
</file>

<file path=ppt/slides/slide2.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7" name="Shared example">
            <a:extLst xmlns:a="http://schemas.openxmlformats.org/drawingml/2006/main">
              <a:ext uri="{FF2B5EF4-FFF2-40B4-BE49-F238E27FC236}">
                <a16:creationId xmlns:a16="http://schemas.microsoft.com/office/drawing/2014/main" id="{5B5A3A94-F818-4AB0-BA3D-689489DCEC83}"/>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Shared example</a:t>
            </a:r>
          </a:p>
        </p:txBody>
      </p:sp>
      <p:sp>
        <p:nvSpPr>
          <p:cNvPr id="2" name="One paragraph we can all judge">
            <a:extLst xmlns:a="http://schemas.openxmlformats.org/drawingml/2006/main">
              <a:ext uri="{FF2B5EF4-FFF2-40B4-BE49-F238E27FC236}">
                <a16:creationId xmlns:a16="http://schemas.microsoft.com/office/drawing/2014/main" id="{19142767-6BA5-47CA-8BBC-2C233C4FF4DB}"/>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One paragraph we can all judge</a:t>
            </a:r>
          </a:p>
        </p:txBody>
      </p:sp>
      <p:sp>
        <p:nvSpPr>
          <p:cNvPr id="3" name="Students may use generative AI tool">
            <a:extLst xmlns:a="http://schemas.openxmlformats.org/drawingml/2006/main">
              <a:ext uri="{FF2B5EF4-FFF2-40B4-BE49-F238E27FC236}">
                <a16:creationId xmlns:a16="http://schemas.microsoft.com/office/drawing/2014/main" id="{032B6227-43DF-4DEE-BA89-58A06130FF72}"/>
              </a:ext>
            </a:extLst>
          </p:cNvPr>
          <p:cNvSpPr>
            <a:spLocks xmlns:a="http://schemas.openxmlformats.org/drawingml/2006/main" noGrp="1"/>
          </p:cNvSpPr>
          <p:nvPr/>
        </p:nvSpPr>
        <p:spPr>
          <a:xfrm xmlns:a="http://schemas.openxmlformats.org/drawingml/2006/main">
            <a:off x="609600" y="1895475"/>
            <a:ext cx="10801350" cy="3324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75" b="0">
                <a:solidFill>
                  <a:srgbClr val="1C1710"/>
                </a:solidFill>
                <a:latin typeface="Helvetica Neue"/>
                <a:ea typeface="Helvetica Neue"/>
                <a:cs typeface="Helvetica Neue"/>
              </a:defRPr>
            </a:pPr>
            <a:r>
              <a:rPr sz="2175" b="0">
                <a:solidFill>
                  <a:srgbClr val="1C1710"/>
                </a:solidFill>
                <a:latin typeface="Helvetica Neue"/>
                <a:ea typeface="Helvetica Neue"/>
                <a:cs typeface="Helvetica Neue"/>
              </a:rPr>
              <a:t>Students may use generative AI tools in this course where appropriate, but should not use them to complete assignments for them. Any use of AI should be disclosed. Work that is substantially produced by AI will not receive credit and may be referred as an academic integrity violation. Students are responsible for the accuracy of everything they submit. If you are unsure whether a particular use is permitted, ask before submitting. The goal of this policy is to support learning rather than to prohibit technology, and I expect students to use their judgment.</a:t>
            </a:r>
          </a:p>
        </p:txBody>
      </p:sp>
      <p:sp>
        <p:nvSpPr>
          <p:cNvPr id="4" name="What would a student need to know b">
            <a:extLst xmlns:a="http://schemas.openxmlformats.org/drawingml/2006/main">
              <a:ext uri="{FF2B5EF4-FFF2-40B4-BE49-F238E27FC236}">
                <a16:creationId xmlns:a16="http://schemas.microsoft.com/office/drawing/2014/main" id="{093E718F-7FA8-4CA0-9100-FCBCCCBF8B4D}"/>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What would a student need to know before acting on this?</a:t>
            </a:r>
          </a:p>
        </p:txBody>
      </p:sp>
      <p:sp>
        <p:nvSpPr>
          <p:cNvPr id="5" name="Invented practice text from the wor">
            <a:extLst xmlns:a="http://schemas.openxmlformats.org/drawingml/2006/main">
              <a:ext uri="{FF2B5EF4-FFF2-40B4-BE49-F238E27FC236}">
                <a16:creationId xmlns:a16="http://schemas.microsoft.com/office/drawing/2014/main" id="{1F54BC41-B2E3-417A-86DE-511226D3C027}"/>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Invented practice text from the workshop webpage</a:t>
            </a:r>
          </a:p>
        </p:txBody>
      </p:sp>
      <p:sp>
        <p:nvSpPr>
          <p:cNvPr id="6" name="02">
            <a:extLst xmlns:a="http://schemas.openxmlformats.org/drawingml/2006/main">
              <a:ext uri="{FF2B5EF4-FFF2-40B4-BE49-F238E27FC236}">
                <a16:creationId xmlns:a16="http://schemas.microsoft.com/office/drawing/2014/main" id="{FCBB5A8A-0EA9-4F1E-A5ED-90C54963EE18}"/>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02</a:t>
            </a:r>
          </a:p>
        </p:txBody>
      </p:sp>
    </p:spTree>
    <p:extLst>
      <p:ext uri="{BB962C8B-B14F-4D97-AF65-F5344CB8AC3E}">
        <p14:creationId xmlns:p14="http://schemas.microsoft.com/office/powerpoint/2010/main" val="1628269084"/>
      </p:ext>
    </p:extLst>
  </p:cSld>
</p:sld>
</file>

<file path=ppt/slides/slide3.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Teach AI to read like you do">
            <a:extLst xmlns:a="http://schemas.openxmlformats.org/drawingml/2006/main">
              <a:ext uri="{FF2B5EF4-FFF2-40B4-BE49-F238E27FC236}">
                <a16:creationId xmlns:a16="http://schemas.microsoft.com/office/drawing/2014/main" id="{87C124F3-0362-44E0-B6F8-80320EC01E1A}"/>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Teach AI to read like you do</a:t>
            </a:r>
          </a:p>
        </p:txBody>
      </p:sp>
      <p:sp>
        <p:nvSpPr>
          <p:cNvPr id="2" name="A broad request leaves choices open">
            <a:extLst xmlns:a="http://schemas.openxmlformats.org/drawingml/2006/main">
              <a:ext uri="{FF2B5EF4-FFF2-40B4-BE49-F238E27FC236}">
                <a16:creationId xmlns:a16="http://schemas.microsoft.com/office/drawing/2014/main" id="{C528778A-AE75-46B7-B6C0-DBECD98D21AC}"/>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A broad request leaves choices open</a:t>
            </a:r>
          </a:p>
        </p:txBody>
      </p:sp>
      <p:sp>
        <p:nvSpPr>
          <p:cNvPr id="3" name="Prompt from the webpage">
            <a:extLst xmlns:a="http://schemas.openxmlformats.org/drawingml/2006/main">
              <a:ext uri="{FF2B5EF4-FFF2-40B4-BE49-F238E27FC236}">
                <a16:creationId xmlns:a16="http://schemas.microsoft.com/office/drawing/2014/main" id="{28CEB306-C52C-4A65-AA49-47DE2009D298}"/>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Prompt from the webpage</a:t>
            </a:r>
          </a:p>
        </p:txBody>
      </p:sp>
      <p:sp>
        <p:nvSpPr>
          <p:cNvPr id="4" name="Response excerpt">
            <a:extLst xmlns:a="http://schemas.openxmlformats.org/drawingml/2006/main">
              <a:ext uri="{FF2B5EF4-FFF2-40B4-BE49-F238E27FC236}">
                <a16:creationId xmlns:a16="http://schemas.microsoft.com/office/drawing/2014/main" id="{E4BB4936-0769-43E5-8E1B-15257CAC7C4D}"/>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Response excerpt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2f1cbde9e0064c2b"/>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Any use of AI must be disclosed.&#10;&#10;[">
            <a:extLst xmlns:a="http://schemas.openxmlformats.org/drawingml/2006/main">
              <a:ext uri="{FF2B5EF4-FFF2-40B4-BE49-F238E27FC236}">
                <a16:creationId xmlns:a16="http://schemas.microsoft.com/office/drawing/2014/main" id="{952EAE9B-005A-4221-99BC-A579956B0284}"/>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Any use of AI </a:t>
            </a:r>
            <a:r>
              <a:rPr sz="2100" b="1">
                <a:solidFill>
                  <a:srgbClr val="9A1416"/>
                </a:solidFill>
                <a:latin typeface="Helvetica Neue"/>
                <a:ea typeface="Helvetica Neue"/>
                <a:cs typeface="Helvetica Neue"/>
              </a:rPr>
              <a:t>must</a:t>
            </a:r>
            <a:r>
              <a:rPr sz="2100" b="0">
                <a:solidFill>
                  <a:srgbClr val="1C1710"/>
                </a:solidFill>
                <a:latin typeface="Helvetica Neue"/>
                <a:ea typeface="Helvetica Neue"/>
                <a:cs typeface="Helvetica Neue"/>
              </a:rPr>
              <a:t> be disclosed.</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“should” → “must.” “Any use of AI should be disclosed” states a </a:t>
            </a:r>
            <a:r>
              <a:rPr sz="2100" b="1">
                <a:solidFill>
                  <a:srgbClr val="9A1416"/>
                </a:solidFill>
                <a:latin typeface="Helvetica Neue"/>
                <a:ea typeface="Helvetica Neue"/>
                <a:cs typeface="Helvetica Neue"/>
              </a:rPr>
              <a:t>preference</a:t>
            </a:r>
            <a:r>
              <a:rPr sz="2100" b="0">
                <a:solidFill>
                  <a:srgbClr val="1C1710"/>
                </a:solidFill>
                <a:latin typeface="Helvetica Neue"/>
                <a:ea typeface="Helvetica Neue"/>
                <a:cs typeface="Helvetica Neue"/>
              </a:rPr>
              <a:t> where the rest of the paragraph states requirements.</a:t>
            </a:r>
          </a:p>
        </p:txBody>
      </p:sp>
      <p:sp>
        <p:nvSpPr>
          <p:cNvPr id="7" name="Would you accept “should” becoming ">
            <a:extLst xmlns:a="http://schemas.openxmlformats.org/drawingml/2006/main">
              <a:ext uri="{FF2B5EF4-FFF2-40B4-BE49-F238E27FC236}">
                <a16:creationId xmlns:a16="http://schemas.microsoft.com/office/drawing/2014/main" id="{1045E8CC-C3D2-4088-AE76-4B6BB98C36D7}"/>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Would you accept “should” becoming “must”?</a:t>
            </a:r>
          </a:p>
        </p:txBody>
      </p:sp>
      <p:sp>
        <p:nvSpPr>
          <p:cNvPr id="8" name="Existing provisional reply, 22 Sep ">
            <a:extLst xmlns:a="http://schemas.openxmlformats.org/drawingml/2006/main">
              <a:ext uri="{FF2B5EF4-FFF2-40B4-BE49-F238E27FC236}">
                <a16:creationId xmlns:a16="http://schemas.microsoft.com/office/drawing/2014/main" id="{B1156B59-F554-4C78-9879-4B54B4D4FFFD}"/>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Existing provisional reply, 22 Sep 2026</a:t>
            </a:r>
          </a:p>
        </p:txBody>
      </p:sp>
      <p:sp>
        <p:nvSpPr>
          <p:cNvPr id="9" name="03">
            <a:extLst xmlns:a="http://schemas.openxmlformats.org/drawingml/2006/main">
              <a:ext uri="{FF2B5EF4-FFF2-40B4-BE49-F238E27FC236}">
                <a16:creationId xmlns:a16="http://schemas.microsoft.com/office/drawing/2014/main" id="{790DADB9-D050-4739-B4DF-96275E73EEF6}"/>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03</a:t>
            </a:r>
          </a:p>
        </p:txBody>
      </p:sp>
    </p:spTree>
    <p:extLst>
      <p:ext uri="{BB962C8B-B14F-4D97-AF65-F5344CB8AC3E}">
        <p14:creationId xmlns:p14="http://schemas.microsoft.com/office/powerpoint/2010/main" val="684806540"/>
      </p:ext>
    </p:extLst>
  </p:cSld>
</p:sld>
</file>

<file path=ppt/slides/slide4.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Teach AI to read like you do">
            <a:extLst xmlns:a="http://schemas.openxmlformats.org/drawingml/2006/main">
              <a:ext uri="{FF2B5EF4-FFF2-40B4-BE49-F238E27FC236}">
                <a16:creationId xmlns:a16="http://schemas.microsoft.com/office/drawing/2014/main" id="{CFFB69D4-F331-414A-A3E9-0E49F278A15F}"/>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Teach AI to read like you do</a:t>
            </a:r>
          </a:p>
        </p:txBody>
      </p:sp>
      <p:sp>
        <p:nvSpPr>
          <p:cNvPr id="2" name="The editorial brief gives the readi">
            <a:extLst xmlns:a="http://schemas.openxmlformats.org/drawingml/2006/main">
              <a:ext uri="{FF2B5EF4-FFF2-40B4-BE49-F238E27FC236}">
                <a16:creationId xmlns:a16="http://schemas.microsoft.com/office/drawing/2014/main" id="{D2EA7B32-6199-40F8-B680-EEE2445C3B69}"/>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The editorial brief gives the reading a purpose</a:t>
            </a:r>
          </a:p>
        </p:txBody>
      </p:sp>
      <p:sp>
        <p:nvSpPr>
          <p:cNvPr id="3" name="Editorial brief, shortened for disp">
            <a:extLst xmlns:a="http://schemas.openxmlformats.org/drawingml/2006/main">
              <a:ext uri="{FF2B5EF4-FFF2-40B4-BE49-F238E27FC236}">
                <a16:creationId xmlns:a16="http://schemas.microsoft.com/office/drawing/2014/main" id="{6B45FC0D-7A02-4F8C-AD88-4F502C4B75FF}"/>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Editorial brief, shortened for display</a:t>
            </a:r>
          </a:p>
        </p:txBody>
      </p:sp>
      <p:sp>
        <p:nvSpPr>
          <p:cNvPr id="4" name="One finding from the response">
            <a:extLst xmlns:a="http://schemas.openxmlformats.org/drawingml/2006/main">
              <a:ext uri="{FF2B5EF4-FFF2-40B4-BE49-F238E27FC236}">
                <a16:creationId xmlns:a16="http://schemas.microsoft.com/office/drawing/2014/main" id="{52183C21-37C8-467F-BF4C-E1C9ABD9D408}"/>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One finding from the response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0c17980410844a1"/>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Any use of AI should be disclosed.">
            <a:extLst xmlns:a="http://schemas.openxmlformats.org/drawingml/2006/main">
              <a:ext uri="{FF2B5EF4-FFF2-40B4-BE49-F238E27FC236}">
                <a16:creationId xmlns:a16="http://schemas.microsoft.com/office/drawing/2014/main" id="{0D88575D-951D-434A-B177-F7E1AA4B13A3}"/>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“Any use of AI should be disclosed.”</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1">
                <a:solidFill>
                  <a:srgbClr val="9A1416"/>
                </a:solidFill>
                <a:latin typeface="Helvetica Neue"/>
                <a:ea typeface="Helvetica Neue"/>
                <a:cs typeface="Helvetica Neue"/>
              </a:rPr>
              <a:t>Disclosed how, to whom, in what form?</a:t>
            </a:r>
            <a:r>
              <a:rPr sz="2100" b="0">
                <a:solidFill>
                  <a:srgbClr val="1C1710"/>
                </a:solidFill>
                <a:latin typeface="Helvetica Neue"/>
                <a:ea typeface="Helvetica Neue"/>
                <a:cs typeface="Helvetica Neue"/>
              </a:rPr>
              <a:t> A footnote, a cover note, an appendix listing prompts? The sentence creates an obligation and specifies no way to discharge it, so a conscientious student either over-discloses or guesses.</a:t>
            </a:r>
          </a:p>
        </p:txBody>
      </p:sp>
      <p:sp>
        <p:nvSpPr>
          <p:cNvPr id="7" name="Does this identify a decision the w">
            <a:extLst xmlns:a="http://schemas.openxmlformats.org/drawingml/2006/main">
              <a:ext uri="{FF2B5EF4-FFF2-40B4-BE49-F238E27FC236}">
                <a16:creationId xmlns:a16="http://schemas.microsoft.com/office/drawing/2014/main" id="{3AA39F88-2323-4035-83EF-6197B215BF4A}"/>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Does this identify a decision the writer needs to make?</a:t>
            </a:r>
          </a:p>
        </p:txBody>
      </p:sp>
      <p:sp>
        <p:nvSpPr>
          <p:cNvPr id="8" name="Existing provisional reply, 22 Sep ">
            <a:extLst xmlns:a="http://schemas.openxmlformats.org/drawingml/2006/main">
              <a:ext uri="{FF2B5EF4-FFF2-40B4-BE49-F238E27FC236}">
                <a16:creationId xmlns:a16="http://schemas.microsoft.com/office/drawing/2014/main" id="{5236D488-B0C7-4D4E-A0A8-E31A83383862}"/>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Existing provisional reply, 22 Sep 2026</a:t>
            </a:r>
          </a:p>
        </p:txBody>
      </p:sp>
      <p:sp>
        <p:nvSpPr>
          <p:cNvPr id="9" name="04">
            <a:extLst xmlns:a="http://schemas.openxmlformats.org/drawingml/2006/main">
              <a:ext uri="{FF2B5EF4-FFF2-40B4-BE49-F238E27FC236}">
                <a16:creationId xmlns:a16="http://schemas.microsoft.com/office/drawing/2014/main" id="{89F403D7-8505-4B8E-9A6B-229B1AAA6563}"/>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04</a:t>
            </a:r>
          </a:p>
        </p:txBody>
      </p:sp>
    </p:spTree>
    <p:extLst>
      <p:ext uri="{BB962C8B-B14F-4D97-AF65-F5344CB8AC3E}">
        <p14:creationId xmlns:p14="http://schemas.microsoft.com/office/powerpoint/2010/main" val="887423919"/>
      </p:ext>
    </p:extLst>
  </p:cSld>
</p:sld>
</file>

<file path=ppt/slides/slide5.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Teach AI to read like you do">
            <a:extLst xmlns:a="http://schemas.openxmlformats.org/drawingml/2006/main">
              <a:ext uri="{FF2B5EF4-FFF2-40B4-BE49-F238E27FC236}">
                <a16:creationId xmlns:a16="http://schemas.microsoft.com/office/drawing/2014/main" id="{5686B6E6-E50A-446B-BA32-3C93456B6F02}"/>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Teach AI to read like you do</a:t>
            </a:r>
          </a:p>
        </p:txBody>
      </p:sp>
      <p:sp>
        <p:nvSpPr>
          <p:cNvPr id="2" name="A quotation gives you something to ">
            <a:extLst xmlns:a="http://schemas.openxmlformats.org/drawingml/2006/main">
              <a:ext uri="{FF2B5EF4-FFF2-40B4-BE49-F238E27FC236}">
                <a16:creationId xmlns:a16="http://schemas.microsoft.com/office/drawing/2014/main" id="{B83C0AF9-CC08-4E3A-9BA3-D4FC05CA25E0}"/>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A quotation gives you something to check</a:t>
            </a:r>
          </a:p>
        </p:txBody>
      </p:sp>
      <p:sp>
        <p:nvSpPr>
          <p:cNvPr id="3" name="Follow-up prompt from the webpage">
            <a:extLst xmlns:a="http://schemas.openxmlformats.org/drawingml/2006/main">
              <a:ext uri="{FF2B5EF4-FFF2-40B4-BE49-F238E27FC236}">
                <a16:creationId xmlns:a16="http://schemas.microsoft.com/office/drawing/2014/main" id="{EDDA453F-706E-48B6-9E1D-8A7B89FBEEDF}"/>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Follow-up prompt from the webpage</a:t>
            </a:r>
          </a:p>
        </p:txBody>
      </p:sp>
      <p:sp>
        <p:nvSpPr>
          <p:cNvPr id="4" name="Response excerpt after a vague comm">
            <a:extLst xmlns:a="http://schemas.openxmlformats.org/drawingml/2006/main">
              <a:ext uri="{FF2B5EF4-FFF2-40B4-BE49-F238E27FC236}">
                <a16:creationId xmlns:a16="http://schemas.microsoft.com/office/drawing/2014/main" id="{480B85A0-6D2C-42BC-9D5F-C4D143F446B2}"/>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Response excerpt after a vague comment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106d3b574a14801"/>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Students respond better to guideli">
            <a:extLst xmlns:a="http://schemas.openxmlformats.org/drawingml/2006/main">
              <a:ext uri="{FF2B5EF4-FFF2-40B4-BE49-F238E27FC236}">
                <a16:creationId xmlns:a16="http://schemas.microsoft.com/office/drawing/2014/main" id="{08064D8A-DF48-4A35-BDCD-996B06C56E23}"/>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“Students respond better to guidelines when they understand the reasoning” is a general belief about teaching, not something I read in your text.</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Neither was a finding about your paragraph.</a:t>
            </a:r>
          </a:p>
        </p:txBody>
      </p:sp>
      <p:sp>
        <p:nvSpPr>
          <p:cNvPr id="7" name="Is this an observation about the te">
            <a:extLst xmlns:a="http://schemas.openxmlformats.org/drawingml/2006/main">
              <a:ext uri="{FF2B5EF4-FFF2-40B4-BE49-F238E27FC236}">
                <a16:creationId xmlns:a16="http://schemas.microsoft.com/office/drawing/2014/main" id="{51532EFB-32F4-4B0C-A7D3-DEC10563ADDD}"/>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Is this an observation about the text, or advice added to it?</a:t>
            </a:r>
          </a:p>
        </p:txBody>
      </p:sp>
      <p:sp>
        <p:nvSpPr>
          <p:cNvPr id="8" name="Existing provisional reply, 22 Sep ">
            <a:extLst xmlns:a="http://schemas.openxmlformats.org/drawingml/2006/main">
              <a:ext uri="{FF2B5EF4-FFF2-40B4-BE49-F238E27FC236}">
                <a16:creationId xmlns:a16="http://schemas.microsoft.com/office/drawing/2014/main" id="{1B38FE6C-0382-44D0-8A02-1673B6AC56CE}"/>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Existing provisional reply, 22 Sep 2026</a:t>
            </a:r>
          </a:p>
        </p:txBody>
      </p:sp>
      <p:sp>
        <p:nvSpPr>
          <p:cNvPr id="9" name="05">
            <a:extLst xmlns:a="http://schemas.openxmlformats.org/drawingml/2006/main">
              <a:ext uri="{FF2B5EF4-FFF2-40B4-BE49-F238E27FC236}">
                <a16:creationId xmlns:a16="http://schemas.microsoft.com/office/drawing/2014/main" id="{55FAC55F-A364-4EF4-92A4-875C2E2ECC10}"/>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05</a:t>
            </a:r>
          </a:p>
        </p:txBody>
      </p:sp>
    </p:spTree>
    <p:extLst>
      <p:ext uri="{BB962C8B-B14F-4D97-AF65-F5344CB8AC3E}">
        <p14:creationId xmlns:p14="http://schemas.microsoft.com/office/powerpoint/2010/main" val="1650855038"/>
      </p:ext>
    </p:extLst>
  </p:cSld>
</p:sld>
</file>

<file path=ppt/slides/slide6.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Set up rules and style guides">
            <a:extLst xmlns:a="http://schemas.openxmlformats.org/drawingml/2006/main">
              <a:ext uri="{FF2B5EF4-FFF2-40B4-BE49-F238E27FC236}">
                <a16:creationId xmlns:a16="http://schemas.microsoft.com/office/drawing/2014/main" id="{B90147F7-AD3D-4625-980F-4E0C281E1745}"/>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Set up rules and style guides</a:t>
            </a:r>
          </a:p>
        </p:txBody>
      </p:sp>
      <p:sp>
        <p:nvSpPr>
          <p:cNvPr id="2" name="A short instruction file carries yo">
            <a:extLst xmlns:a="http://schemas.openxmlformats.org/drawingml/2006/main">
              <a:ext uri="{FF2B5EF4-FFF2-40B4-BE49-F238E27FC236}">
                <a16:creationId xmlns:a16="http://schemas.microsoft.com/office/drawing/2014/main" id="{03A01DF0-5E8F-49BD-B0FF-DF7AC9F5B943}"/>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A short instruction file carries your rules forward</a:t>
            </a:r>
          </a:p>
        </p:txBody>
      </p:sp>
      <p:sp>
        <p:nvSpPr>
          <p:cNvPr id="3" name="Standing instruction, shortened fro">
            <a:extLst xmlns:a="http://schemas.openxmlformats.org/drawingml/2006/main">
              <a:ext uri="{FF2B5EF4-FFF2-40B4-BE49-F238E27FC236}">
                <a16:creationId xmlns:a16="http://schemas.microsoft.com/office/drawing/2014/main" id="{A1820326-F29F-4C55-B09A-2BF3D88B1A2A}"/>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Standing instruction, shortened from webpage</a:t>
            </a:r>
          </a:p>
        </p:txBody>
      </p:sp>
      <p:sp>
        <p:nvSpPr>
          <p:cNvPr id="4" name="Example file you save and reuse">
            <a:extLst xmlns:a="http://schemas.openxmlformats.org/drawingml/2006/main">
              <a:ext uri="{FF2B5EF4-FFF2-40B4-BE49-F238E27FC236}">
                <a16:creationId xmlns:a16="http://schemas.microsoft.com/office/drawing/2014/main" id="{5992D5B0-CEB8-44AE-BBFA-E943E81D242B}"/>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Example file you save and reuse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fb9b944c5f04205"/>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MY STYLE GUIDE&#10;&#10;Preserve terms I de">
            <a:extLst xmlns:a="http://schemas.openxmlformats.org/drawingml/2006/main">
              <a:ext uri="{FF2B5EF4-FFF2-40B4-BE49-F238E27FC236}">
                <a16:creationId xmlns:a16="http://schemas.microsoft.com/office/drawing/2014/main" id="{D886F7CF-BC5A-4FE7-AD38-7203362813F0}"/>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MY STYLE GUIDE</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Preserve terms I define.</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Keep uncertainty such as “may” and “suggests.”</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Distinguish a textual observation from an inference.</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Ask when a missing fact affects the reading.</a:t>
            </a:r>
          </a:p>
        </p:txBody>
      </p:sp>
      <p:sp>
        <p:nvSpPr>
          <p:cNvPr id="7" name="Which instruction would matter most">
            <a:extLst xmlns:a="http://schemas.openxmlformats.org/drawingml/2006/main">
              <a:ext uri="{FF2B5EF4-FFF2-40B4-BE49-F238E27FC236}">
                <a16:creationId xmlns:a16="http://schemas.microsoft.com/office/drawing/2014/main" id="{38229F68-695D-44F2-A48E-8447FAD7FBFF}"/>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Which instruction would matter most for your writing?</a:t>
            </a:r>
          </a:p>
        </p:txBody>
      </p:sp>
      <p:sp>
        <p:nvSpPr>
          <p:cNvPr id="8" name="Worked instruction-file example, no">
            <a:extLst xmlns:a="http://schemas.openxmlformats.org/drawingml/2006/main">
              <a:ext uri="{FF2B5EF4-FFF2-40B4-BE49-F238E27FC236}">
                <a16:creationId xmlns:a16="http://schemas.microsoft.com/office/drawing/2014/main" id="{D315AEA6-37EA-4D8D-B4E2-A28D635C6C32}"/>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Worked instruction-file example, not a recorded reply</a:t>
            </a:r>
          </a:p>
        </p:txBody>
      </p:sp>
      <p:sp>
        <p:nvSpPr>
          <p:cNvPr id="9" name="06">
            <a:extLst xmlns:a="http://schemas.openxmlformats.org/drawingml/2006/main">
              <a:ext uri="{FF2B5EF4-FFF2-40B4-BE49-F238E27FC236}">
                <a16:creationId xmlns:a16="http://schemas.microsoft.com/office/drawing/2014/main" id="{10A90C30-5689-4946-9C05-684D198737F5}"/>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06</a:t>
            </a:r>
          </a:p>
        </p:txBody>
      </p:sp>
    </p:spTree>
    <p:extLst>
      <p:ext uri="{BB962C8B-B14F-4D97-AF65-F5344CB8AC3E}">
        <p14:creationId xmlns:p14="http://schemas.microsoft.com/office/powerpoint/2010/main" val="1849733643"/>
      </p:ext>
    </p:extLst>
  </p:cSld>
</p:sld>
</file>

<file path=ppt/slides/slide7.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Set up rules and style guides">
            <a:extLst xmlns:a="http://schemas.openxmlformats.org/drawingml/2006/main">
              <a:ext uri="{FF2B5EF4-FFF2-40B4-BE49-F238E27FC236}">
                <a16:creationId xmlns:a16="http://schemas.microsoft.com/office/drawing/2014/main" id="{CBE2322D-1928-4315-B64D-CA5C4D9DCCF1}"/>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Set up rules and style guides</a:t>
            </a:r>
          </a:p>
        </p:txBody>
      </p:sp>
      <p:sp>
        <p:nvSpPr>
          <p:cNvPr id="2" name="Specific rules are easier to evalua">
            <a:extLst xmlns:a="http://schemas.openxmlformats.org/drawingml/2006/main">
              <a:ext uri="{FF2B5EF4-FFF2-40B4-BE49-F238E27FC236}">
                <a16:creationId xmlns:a16="http://schemas.microsoft.com/office/drawing/2014/main" id="{39867D36-69A5-415C-A31F-060263B831A5}"/>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Specific rules are easier to evaluate</a:t>
            </a:r>
          </a:p>
        </p:txBody>
      </p:sp>
      <p:sp>
        <p:nvSpPr>
          <p:cNvPr id="3" name="Rule-sharpening prompt, adapted">
            <a:extLst xmlns:a="http://schemas.openxmlformats.org/drawingml/2006/main">
              <a:ext uri="{FF2B5EF4-FFF2-40B4-BE49-F238E27FC236}">
                <a16:creationId xmlns:a16="http://schemas.microsoft.com/office/drawing/2014/main" id="{EBEEAB89-D438-4A8C-B36C-7F7CBF6A0FA9}"/>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Rule-sharpening prompt, adapted</a:t>
            </a:r>
          </a:p>
        </p:txBody>
      </p:sp>
      <p:sp>
        <p:nvSpPr>
          <p:cNvPr id="4" name="Worked example of a revised rule">
            <a:extLst xmlns:a="http://schemas.openxmlformats.org/drawingml/2006/main">
              <a:ext uri="{FF2B5EF4-FFF2-40B4-BE49-F238E27FC236}">
                <a16:creationId xmlns:a16="http://schemas.microsoft.com/office/drawing/2014/main" id="{C0800059-F758-43D8-9BA2-50C7FAAAAB9E}"/>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Worked example of a revised rule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7e27f4740ca416c"/>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VAGUE PREFERENCE&#10;Keep my academic v">
            <a:extLst xmlns:a="http://schemas.openxmlformats.org/drawingml/2006/main">
              <a:ext uri="{FF2B5EF4-FFF2-40B4-BE49-F238E27FC236}">
                <a16:creationId xmlns:a16="http://schemas.microsoft.com/office/drawing/2014/main" id="{D29F90C4-C2D1-4FA9-8BDE-AD343FDC4816}"/>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VAGUE PREFERENCE</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Keep my academic voice.</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CHECKABLE RULE</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Preserve qualifications such as “may” and “suggests.” Flag a concern in a comment rather than silently strengthening the claim.</a:t>
            </a:r>
          </a:p>
        </p:txBody>
      </p:sp>
      <p:sp>
        <p:nvSpPr>
          <p:cNvPr id="7" name="What could you point to if this rul">
            <a:extLst xmlns:a="http://schemas.openxmlformats.org/drawingml/2006/main">
              <a:ext uri="{FF2B5EF4-FFF2-40B4-BE49-F238E27FC236}">
                <a16:creationId xmlns:a16="http://schemas.microsoft.com/office/drawing/2014/main" id="{49C0264F-30BE-4289-9491-7687C0A31E65}"/>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What could you point to if this rule were broken?</a:t>
            </a:r>
          </a:p>
        </p:txBody>
      </p:sp>
      <p:sp>
        <p:nvSpPr>
          <p:cNvPr id="8" name="Worked rule example, not a recorded">
            <a:extLst xmlns:a="http://schemas.openxmlformats.org/drawingml/2006/main">
              <a:ext uri="{FF2B5EF4-FFF2-40B4-BE49-F238E27FC236}">
                <a16:creationId xmlns:a16="http://schemas.microsoft.com/office/drawing/2014/main" id="{BAC3EC3E-CF59-44F7-ABA0-39A7195E8CBE}"/>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Worked rule example, not a recorded reply</a:t>
            </a:r>
          </a:p>
        </p:txBody>
      </p:sp>
      <p:sp>
        <p:nvSpPr>
          <p:cNvPr id="9" name="07">
            <a:extLst xmlns:a="http://schemas.openxmlformats.org/drawingml/2006/main">
              <a:ext uri="{FF2B5EF4-FFF2-40B4-BE49-F238E27FC236}">
                <a16:creationId xmlns:a16="http://schemas.microsoft.com/office/drawing/2014/main" id="{F53AF98C-A549-4B37-AAF6-75B72F19A614}"/>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07</a:t>
            </a:r>
          </a:p>
        </p:txBody>
      </p:sp>
    </p:spTree>
    <p:extLst>
      <p:ext uri="{BB962C8B-B14F-4D97-AF65-F5344CB8AC3E}">
        <p14:creationId xmlns:p14="http://schemas.microsoft.com/office/powerpoint/2010/main" val="919587230"/>
      </p:ext>
    </p:extLst>
  </p:cSld>
</p:sld>
</file>

<file path=ppt/slides/slide8.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Set up rules and style guides">
            <a:extLst xmlns:a="http://schemas.openxmlformats.org/drawingml/2006/main">
              <a:ext uri="{FF2B5EF4-FFF2-40B4-BE49-F238E27FC236}">
                <a16:creationId xmlns:a16="http://schemas.microsoft.com/office/drawing/2014/main" id="{4071F1EC-10C4-4A10-8AD9-A5CEE668299B}"/>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Set up rules and style guides</a:t>
            </a:r>
          </a:p>
        </p:txBody>
      </p:sp>
      <p:sp>
        <p:nvSpPr>
          <p:cNvPr id="2" name="A CV makes formatting rules visible">
            <a:extLst xmlns:a="http://schemas.openxmlformats.org/drawingml/2006/main">
              <a:ext uri="{FF2B5EF4-FFF2-40B4-BE49-F238E27FC236}">
                <a16:creationId xmlns:a16="http://schemas.microsoft.com/office/drawing/2014/main" id="{6786F005-DF29-4A22-B8D9-EA6D1190FD40}"/>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A CV makes formatting rules visible</a:t>
            </a:r>
          </a:p>
        </p:txBody>
      </p:sp>
      <p:sp>
        <p:nvSpPr>
          <p:cNvPr id="3" name="New prompt for the companion tutori">
            <a:extLst xmlns:a="http://schemas.openxmlformats.org/drawingml/2006/main">
              <a:ext uri="{FF2B5EF4-FFF2-40B4-BE49-F238E27FC236}">
                <a16:creationId xmlns:a16="http://schemas.microsoft.com/office/drawing/2014/main" id="{F76A7E59-8E4F-4EA5-AAA2-5B4FFBCD8B4D}"/>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New prompt for the companion tutorial</a:t>
            </a:r>
          </a:p>
        </p:txBody>
      </p:sp>
      <p:sp>
        <p:nvSpPr>
          <p:cNvPr id="4" name="Prepared formatting example">
            <a:extLst xmlns:a="http://schemas.openxmlformats.org/drawingml/2006/main">
              <a:ext uri="{FF2B5EF4-FFF2-40B4-BE49-F238E27FC236}">
                <a16:creationId xmlns:a16="http://schemas.microsoft.com/office/drawing/2014/main" id="{E81B05DA-E21F-474B-ABF6-87DFF0E541A6}"/>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Prepared formatting example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c2f9dceb62e4bbd"/>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ORIGINAL ENTRIES&#10;2024  Community Me">
            <a:extLst xmlns:a="http://schemas.openxmlformats.org/drawingml/2006/main">
              <a:ext uri="{FF2B5EF4-FFF2-40B4-BE49-F238E27FC236}">
                <a16:creationId xmlns:a16="http://schemas.microsoft.com/office/drawing/2014/main" id="{2BB4D98B-63E8-40BD-B614-C9256E5D9EB5}"/>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ORIGINAL ENTRIES</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2024  Community Memory  lecture</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Archives and Access, seminar, 2023</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AFTER APPLYING THE GUIDE</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2024. Community Memory. Lecture.</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2023. Archives and Access. Seminar.</a:t>
            </a:r>
          </a:p>
        </p:txBody>
      </p:sp>
      <p:sp>
        <p:nvSpPr>
          <p:cNvPr id="7" name="What may change? What information m">
            <a:extLst xmlns:a="http://schemas.openxmlformats.org/drawingml/2006/main">
              <a:ext uri="{FF2B5EF4-FFF2-40B4-BE49-F238E27FC236}">
                <a16:creationId xmlns:a16="http://schemas.microsoft.com/office/drawing/2014/main" id="{03A67AFA-2CA6-4EAD-95F5-A64E9A395323}"/>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What may change? What information must stay exactly the same?</a:t>
            </a:r>
          </a:p>
        </p:txBody>
      </p:sp>
      <p:sp>
        <p:nvSpPr>
          <p:cNvPr id="8" name="Fictional entries and prepared resu">
            <a:extLst xmlns:a="http://schemas.openxmlformats.org/drawingml/2006/main">
              <a:ext uri="{FF2B5EF4-FFF2-40B4-BE49-F238E27FC236}">
                <a16:creationId xmlns:a16="http://schemas.microsoft.com/office/drawing/2014/main" id="{4E7D3E15-F887-4ED2-AC87-2DB1FD9CF575}"/>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Fictional entries and prepared result, not an AI transcript</a:t>
            </a:r>
          </a:p>
        </p:txBody>
      </p:sp>
      <p:sp>
        <p:nvSpPr>
          <p:cNvPr id="9" name="08">
            <a:extLst xmlns:a="http://schemas.openxmlformats.org/drawingml/2006/main">
              <a:ext uri="{FF2B5EF4-FFF2-40B4-BE49-F238E27FC236}">
                <a16:creationId xmlns:a16="http://schemas.microsoft.com/office/drawing/2014/main" id="{CF1BAFF7-AD29-482C-A3F6-0FE9EB9DF013}"/>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08</a:t>
            </a:r>
          </a:p>
        </p:txBody>
      </p:sp>
    </p:spTree>
    <p:extLst>
      <p:ext uri="{BB962C8B-B14F-4D97-AF65-F5344CB8AC3E}">
        <p14:creationId xmlns:p14="http://schemas.microsoft.com/office/powerpoint/2010/main" val="1743299407"/>
      </p:ext>
    </p:extLst>
  </p:cSld>
</p:sld>
</file>

<file path=ppt/slides/slide9.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Role-play as different readers">
            <a:extLst xmlns:a="http://schemas.openxmlformats.org/drawingml/2006/main">
              <a:ext uri="{FF2B5EF4-FFF2-40B4-BE49-F238E27FC236}">
                <a16:creationId xmlns:a16="http://schemas.microsoft.com/office/drawing/2014/main" id="{0B7C10E0-A2CC-4699-8868-52E9200D955A}"/>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Role-play as different readers</a:t>
            </a:r>
          </a:p>
        </p:txBody>
      </p:sp>
      <p:sp>
        <p:nvSpPr>
          <p:cNvPr id="2" name="A student reader notices the cost o">
            <a:extLst xmlns:a="http://schemas.openxmlformats.org/drawingml/2006/main">
              <a:ext uri="{FF2B5EF4-FFF2-40B4-BE49-F238E27FC236}">
                <a16:creationId xmlns:a16="http://schemas.microsoft.com/office/drawing/2014/main" id="{E1261936-B90B-4047-BA65-79C3DAD81F40}"/>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A student reader notices the cost of asking</a:t>
            </a:r>
          </a:p>
        </p:txBody>
      </p:sp>
      <p:sp>
        <p:nvSpPr>
          <p:cNvPr id="3" name="Student-reader prompt, adapted to t">
            <a:extLst xmlns:a="http://schemas.openxmlformats.org/drawingml/2006/main">
              <a:ext uri="{FF2B5EF4-FFF2-40B4-BE49-F238E27FC236}">
                <a16:creationId xmlns:a16="http://schemas.microsoft.com/office/drawing/2014/main" id="{3F668AC2-9DE8-49C0-8262-1A596251DB89}"/>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Student-reader prompt, adapted to the policy</a:t>
            </a:r>
          </a:p>
        </p:txBody>
      </p:sp>
      <p:sp>
        <p:nvSpPr>
          <p:cNvPr id="4" name="Student-role response excerpt">
            <a:extLst xmlns:a="http://schemas.openxmlformats.org/drawingml/2006/main">
              <a:ext uri="{FF2B5EF4-FFF2-40B4-BE49-F238E27FC236}">
                <a16:creationId xmlns:a16="http://schemas.microsoft.com/office/drawing/2014/main" id="{4C89F74E-C8D5-4E74-A9B8-DEDB890E96E8}"/>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Student-role response excerpt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55e1b65c18744dd"/>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How do I disclose? Do I write it at">
            <a:extLst xmlns:a="http://schemas.openxmlformats.org/drawingml/2006/main">
              <a:ext uri="{FF2B5EF4-FFF2-40B4-BE49-F238E27FC236}">
                <a16:creationId xmlns:a16="http://schemas.microsoft.com/office/drawing/2014/main" id="{9124B7CC-EE32-44C2-B355-1301397D56A7}"/>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How do I disclose? Do I write it at the end, email you, is there a form? And if I disclose something that turns out not to be allowed, have I just reported myself?</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If I ask you beforehand, does that go on a record anywhere?</a:t>
            </a:r>
          </a:p>
        </p:txBody>
      </p:sp>
      <p:sp>
        <p:nvSpPr>
          <p:cNvPr id="7" name="Which concern would you want to che">
            <a:extLst xmlns:a="http://schemas.openxmlformats.org/drawingml/2006/main">
              <a:ext uri="{FF2B5EF4-FFF2-40B4-BE49-F238E27FC236}">
                <a16:creationId xmlns:a16="http://schemas.microsoft.com/office/drawing/2014/main" id="{056C2FE9-26E7-4C5B-93AC-27986939ADD1}"/>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Which concern would you want to check with actual students?</a:t>
            </a:r>
          </a:p>
        </p:txBody>
      </p:sp>
      <p:sp>
        <p:nvSpPr>
          <p:cNvPr id="8" name="Existing provisional reply, 22 Sep ">
            <a:extLst xmlns:a="http://schemas.openxmlformats.org/drawingml/2006/main">
              <a:ext uri="{FF2B5EF4-FFF2-40B4-BE49-F238E27FC236}">
                <a16:creationId xmlns:a16="http://schemas.microsoft.com/office/drawing/2014/main" id="{FA838C8F-9931-466E-ACD6-B57190A8345E}"/>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Existing provisional reply, 22 Sep 2026</a:t>
            </a:r>
          </a:p>
        </p:txBody>
      </p:sp>
      <p:sp>
        <p:nvSpPr>
          <p:cNvPr id="9" name="09">
            <a:extLst xmlns:a="http://schemas.openxmlformats.org/drawingml/2006/main">
              <a:ext uri="{FF2B5EF4-FFF2-40B4-BE49-F238E27FC236}">
                <a16:creationId xmlns:a16="http://schemas.microsoft.com/office/drawing/2014/main" id="{904E6348-5813-47DC-BA8A-6D53E15847E6}"/>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09</a:t>
            </a:r>
          </a:p>
        </p:txBody>
      </p:sp>
    </p:spTree>
    <p:extLst>
      <p:ext uri="{BB962C8B-B14F-4D97-AF65-F5344CB8AC3E}">
        <p14:creationId xmlns:p14="http://schemas.microsoft.com/office/powerpoint/2010/main" val="1897263267"/>
      </p:ext>
    </p:extLst>
  </p:cSld>
</p:sld>
</file>

<file path=ppt/slides/slide10.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Role-play as different readers">
            <a:extLst xmlns:a="http://schemas.openxmlformats.org/drawingml/2006/main">
              <a:ext uri="{FF2B5EF4-FFF2-40B4-BE49-F238E27FC236}">
                <a16:creationId xmlns:a16="http://schemas.microsoft.com/office/drawing/2014/main" id="{2288675C-A8EF-46C5-860E-0775CE29803E}"/>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Role-play as different readers</a:t>
            </a:r>
          </a:p>
        </p:txBody>
      </p:sp>
      <p:sp>
        <p:nvSpPr>
          <p:cNvPr id="2" name="An outsider reader notices the miss">
            <a:extLst xmlns:a="http://schemas.openxmlformats.org/drawingml/2006/main">
              <a:ext uri="{FF2B5EF4-FFF2-40B4-BE49-F238E27FC236}">
                <a16:creationId xmlns:a16="http://schemas.microsoft.com/office/drawing/2014/main" id="{DE5CAD52-4298-4076-93EA-E43E7A4F9040}"/>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An outsider reader notices the missing definition</a:t>
            </a:r>
          </a:p>
        </p:txBody>
      </p:sp>
      <p:sp>
        <p:nvSpPr>
          <p:cNvPr id="3" name="Outsider-reader prompt from the web">
            <a:extLst xmlns:a="http://schemas.openxmlformats.org/drawingml/2006/main">
              <a:ext uri="{FF2B5EF4-FFF2-40B4-BE49-F238E27FC236}">
                <a16:creationId xmlns:a16="http://schemas.microsoft.com/office/drawing/2014/main" id="{119E6046-D3C1-4352-9D74-09B81FB1E1CE}"/>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Outsider-reader prompt from the webpage</a:t>
            </a:r>
          </a:p>
        </p:txBody>
      </p:sp>
      <p:sp>
        <p:nvSpPr>
          <p:cNvPr id="4" name="Outsider-role response excerpt">
            <a:extLst xmlns:a="http://schemas.openxmlformats.org/drawingml/2006/main">
              <a:ext uri="{FF2B5EF4-FFF2-40B4-BE49-F238E27FC236}">
                <a16:creationId xmlns:a16="http://schemas.microsoft.com/office/drawing/2014/main" id="{F922BA0B-F74A-4407-88B5-195282FE5A02}"/>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Outsider-role response excerpt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c18d4dbee5a438f"/>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substantially produced” — I guesse">
            <a:extLst xmlns:a="http://schemas.openxmlformats.org/drawingml/2006/main">
              <a:ext uri="{FF2B5EF4-FFF2-40B4-BE49-F238E27FC236}">
                <a16:creationId xmlns:a16="http://schemas.microsoft.com/office/drawing/2014/main" id="{4F778F32-0B86-4FF7-BB86-87B31A0FF69F}"/>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“substantially produced” — I guessed a proportion of words, maybe more than half. But it could mean the intellectual contribution regardless of word count. The two tests would sort different students differently.</a:t>
            </a:r>
          </a:p>
        </p:txBody>
      </p:sp>
      <p:sp>
        <p:nvSpPr>
          <p:cNvPr id="7" name="What does “substantially” mean in t">
            <a:extLst xmlns:a="http://schemas.openxmlformats.org/drawingml/2006/main">
              <a:ext uri="{FF2B5EF4-FFF2-40B4-BE49-F238E27FC236}">
                <a16:creationId xmlns:a16="http://schemas.microsoft.com/office/drawing/2014/main" id="{3B3A7005-5B51-484A-9F77-AFEF45A8535E}"/>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What does “substantially” mean in the policy you intended?</a:t>
            </a:r>
          </a:p>
        </p:txBody>
      </p:sp>
      <p:sp>
        <p:nvSpPr>
          <p:cNvPr id="8" name="Existing provisional reply, 22 Sep ">
            <a:extLst xmlns:a="http://schemas.openxmlformats.org/drawingml/2006/main">
              <a:ext uri="{FF2B5EF4-FFF2-40B4-BE49-F238E27FC236}">
                <a16:creationId xmlns:a16="http://schemas.microsoft.com/office/drawing/2014/main" id="{79F5DD91-F4DA-463B-921C-39FE677C53D3}"/>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Existing provisional reply, 22 Sep 2026</a:t>
            </a:r>
          </a:p>
        </p:txBody>
      </p:sp>
      <p:sp>
        <p:nvSpPr>
          <p:cNvPr id="9" name="10">
            <a:extLst xmlns:a="http://schemas.openxmlformats.org/drawingml/2006/main">
              <a:ext uri="{FF2B5EF4-FFF2-40B4-BE49-F238E27FC236}">
                <a16:creationId xmlns:a16="http://schemas.microsoft.com/office/drawing/2014/main" id="{8F7A6C6B-9999-4B93-BD28-C7ABD2521910}"/>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10</a:t>
            </a:r>
          </a:p>
        </p:txBody>
      </p:sp>
    </p:spTree>
    <p:extLst>
      <p:ext uri="{BB962C8B-B14F-4D97-AF65-F5344CB8AC3E}">
        <p14:creationId xmlns:p14="http://schemas.microsoft.com/office/powerpoint/2010/main" val="849801616"/>
      </p:ext>
    </p:extLst>
  </p:cSld>
</p:sld>
</file>

<file path=ppt/slides/slide11.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Role-play as different readers">
            <a:extLst xmlns:a="http://schemas.openxmlformats.org/drawingml/2006/main">
              <a:ext uri="{FF2B5EF4-FFF2-40B4-BE49-F238E27FC236}">
                <a16:creationId xmlns:a16="http://schemas.microsoft.com/office/drawing/2014/main" id="{CE2DE8DA-D397-4CF9-B849-ED7639003143}"/>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Role-play as different readers</a:t>
            </a:r>
          </a:p>
        </p:txBody>
      </p:sp>
      <p:sp>
        <p:nvSpPr>
          <p:cNvPr id="2" name="The comparison still needs your jud">
            <a:extLst xmlns:a="http://schemas.openxmlformats.org/drawingml/2006/main">
              <a:ext uri="{FF2B5EF4-FFF2-40B4-BE49-F238E27FC236}">
                <a16:creationId xmlns:a16="http://schemas.microsoft.com/office/drawing/2014/main" id="{A440B7B8-A2C4-4016-A23A-78967A6E6514}"/>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The comparison still needs your judgment</a:t>
            </a:r>
          </a:p>
        </p:txBody>
      </p:sp>
      <p:sp>
        <p:nvSpPr>
          <p:cNvPr id="3" name="Comparison prompt, lightly shortene">
            <a:extLst xmlns:a="http://schemas.openxmlformats.org/drawingml/2006/main">
              <a:ext uri="{FF2B5EF4-FFF2-40B4-BE49-F238E27FC236}">
                <a16:creationId xmlns:a16="http://schemas.microsoft.com/office/drawing/2014/main" id="{6489970C-EBF3-4358-AC50-63709F145106}"/>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Comparison prompt, lightly shortened</a:t>
            </a:r>
          </a:p>
        </p:txBody>
      </p:sp>
      <p:sp>
        <p:nvSpPr>
          <p:cNvPr id="4" name="Comparison response excerpt">
            <a:extLst xmlns:a="http://schemas.openxmlformats.org/drawingml/2006/main">
              <a:ext uri="{FF2B5EF4-FFF2-40B4-BE49-F238E27FC236}">
                <a16:creationId xmlns:a16="http://schemas.microsoft.com/office/drawing/2014/main" id="{6DB859F7-1D67-482F-83BB-0BDAF6BF5133}"/>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Comparison response excerpt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ca39039ac1f49b8"/>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What that suggests you have not dec">
            <a:extLst xmlns:a="http://schemas.openxmlformats.org/drawingml/2006/main">
              <a:ext uri="{FF2B5EF4-FFF2-40B4-BE49-F238E27FC236}">
                <a16:creationId xmlns:a16="http://schemas.microsoft.com/office/drawing/2014/main" id="{38FF866A-08A1-4CE5-8038-F7E31CA2636F}"/>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What that suggests you have not decided: </a:t>
            </a:r>
            <a:r>
              <a:rPr sz="2100" b="1">
                <a:solidFill>
                  <a:srgbClr val="9A1416"/>
                </a:solidFill>
                <a:latin typeface="Helvetica Neue"/>
                <a:ea typeface="Helvetica Neue"/>
                <a:cs typeface="Helvetica Neue"/>
              </a:rPr>
              <a:t>whether this policy is instruction or enforcement</a:t>
            </a:r>
            <a:r>
              <a:rPr sz="2100" b="0">
                <a:solidFill>
                  <a:srgbClr val="1C1710"/>
                </a:solidFill>
                <a:latin typeface="Helvetica Neue"/>
                <a:ea typeface="Helvetica Neue"/>
                <a:cs typeface="Helvetica Neue"/>
              </a:rPr>
              <a:t>.</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The present text is trying to be both, which is why “ask before submitting” reads as an open door to one reader and a tripwire to the other.</a:t>
            </a:r>
          </a:p>
        </p:txBody>
      </p:sp>
      <p:sp>
        <p:nvSpPr>
          <p:cNvPr id="7" name="Could a policy reasonably do both?">
            <a:extLst xmlns:a="http://schemas.openxmlformats.org/drawingml/2006/main">
              <a:ext uri="{FF2B5EF4-FFF2-40B4-BE49-F238E27FC236}">
                <a16:creationId xmlns:a16="http://schemas.microsoft.com/office/drawing/2014/main" id="{2630EE0A-C975-4E57-AA0B-0781E9F5BD43}"/>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Could a policy reasonably do both?</a:t>
            </a:r>
          </a:p>
        </p:txBody>
      </p:sp>
      <p:sp>
        <p:nvSpPr>
          <p:cNvPr id="8" name="Existing provisional reply, 22 Sep ">
            <a:extLst xmlns:a="http://schemas.openxmlformats.org/drawingml/2006/main">
              <a:ext uri="{FF2B5EF4-FFF2-40B4-BE49-F238E27FC236}">
                <a16:creationId xmlns:a16="http://schemas.microsoft.com/office/drawing/2014/main" id="{13113FAE-8815-4829-B5AF-09BABB720FC6}"/>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Existing provisional reply, 22 Sep 2026</a:t>
            </a:r>
          </a:p>
        </p:txBody>
      </p:sp>
      <p:sp>
        <p:nvSpPr>
          <p:cNvPr id="9" name="11">
            <a:extLst xmlns:a="http://schemas.openxmlformats.org/drawingml/2006/main">
              <a:ext uri="{FF2B5EF4-FFF2-40B4-BE49-F238E27FC236}">
                <a16:creationId xmlns:a16="http://schemas.microsoft.com/office/drawing/2014/main" id="{B8BB1C4E-F3BE-415B-BA7A-E37D66E9A612}"/>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11</a:t>
            </a:r>
          </a:p>
        </p:txBody>
      </p:sp>
    </p:spTree>
    <p:extLst>
      <p:ext uri="{BB962C8B-B14F-4D97-AF65-F5344CB8AC3E}">
        <p14:creationId xmlns:p14="http://schemas.microsoft.com/office/powerpoint/2010/main" val="472070795"/>
      </p:ext>
    </p:extLst>
  </p:cSld>
</p:sld>
</file>

<file path=ppt/slides/slide12.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10" name="Application in Word">
            <a:extLst xmlns:a="http://schemas.openxmlformats.org/drawingml/2006/main">
              <a:ext uri="{FF2B5EF4-FFF2-40B4-BE49-F238E27FC236}">
                <a16:creationId xmlns:a16="http://schemas.microsoft.com/office/drawing/2014/main" id="{259CFBFE-22A6-4CD8-B2A2-377C039EE8E3}"/>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Application in Word</a:t>
            </a:r>
          </a:p>
        </p:txBody>
      </p:sp>
      <p:sp>
        <p:nvSpPr>
          <p:cNvPr id="2" name="Reader comments can stay beside the">
            <a:extLst xmlns:a="http://schemas.openxmlformats.org/drawingml/2006/main">
              <a:ext uri="{FF2B5EF4-FFF2-40B4-BE49-F238E27FC236}">
                <a16:creationId xmlns:a16="http://schemas.microsoft.com/office/drawing/2014/main" id="{B258A744-1506-40F2-9092-1202AFA62CF3}"/>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Reader comments can stay beside the passage</a:t>
            </a:r>
          </a:p>
        </p:txBody>
      </p:sp>
      <p:sp>
        <p:nvSpPr>
          <p:cNvPr id="3" name="Document-comment prompt, shortened">
            <a:extLst xmlns:a="http://schemas.openxmlformats.org/drawingml/2006/main">
              <a:ext uri="{FF2B5EF4-FFF2-40B4-BE49-F238E27FC236}">
                <a16:creationId xmlns:a16="http://schemas.microsoft.com/office/drawing/2014/main" id="{CD46DA6C-708E-4B36-808D-06275C5C3730}"/>
              </a:ext>
            </a:extLst>
          </p:cNvPr>
          <p:cNvSpPr>
            <a:spLocks xmlns:a="http://schemas.openxmlformats.org/drawingml/2006/main" noGrp="1"/>
          </p:cNvSpPr>
          <p:nvPr/>
        </p:nvSpPr>
        <p:spPr>
          <a:xfrm xmlns:a="http://schemas.openxmlformats.org/drawingml/2006/main">
            <a:off x="609600" y="1676400"/>
            <a:ext cx="5000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Document-comment prompt, shortened</a:t>
            </a:r>
          </a:p>
        </p:txBody>
      </p:sp>
      <p:sp>
        <p:nvSpPr>
          <p:cNvPr id="4" name="Illustration of an anchored comment">
            <a:extLst xmlns:a="http://schemas.openxmlformats.org/drawingml/2006/main">
              <a:ext uri="{FF2B5EF4-FFF2-40B4-BE49-F238E27FC236}">
                <a16:creationId xmlns:a16="http://schemas.microsoft.com/office/drawing/2014/main" id="{BE98EE54-58F5-41E8-AA0A-A1AEF835EC0C}"/>
              </a:ext>
            </a:extLst>
          </p:cNvPr>
          <p:cNvSpPr>
            <a:spLocks xmlns:a="http://schemas.openxmlformats.org/drawingml/2006/main" noGrp="1"/>
          </p:cNvSpPr>
          <p:nvPr/>
        </p:nvSpPr>
        <p:spPr>
          <a:xfrm xmlns:a="http://schemas.openxmlformats.org/drawingml/2006/main">
            <a:off x="6267450" y="167640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425" b="0">
                <a:solidFill>
                  <a:srgbClr val="705F4A"/>
                </a:solidFill>
                <a:latin typeface="Helvetica Neue"/>
                <a:ea typeface="Helvetica Neue"/>
                <a:cs typeface="Helvetica Neue"/>
              </a:defRPr>
            </a:pPr>
            <a:r>
              <a:rPr sz="1425" b="0">
                <a:solidFill>
                  <a:srgbClr val="705F4A"/>
                </a:solidFill>
                <a:latin typeface="Helvetica Neue"/>
                <a:ea typeface="Helvetica Neue"/>
                <a:cs typeface="Helvetica Neue"/>
              </a:rPr>
              <a:t>Illustration of an anchored comment</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441a0676e274a95"/>
          <a:stretch xmlns:a="http://schemas.openxmlformats.org/drawingml/2006/main"/>
        </p:blipFill>
        <p:spPr>
          <a:xfrm xmlns:a="http://schemas.openxmlformats.org/drawingml/2006/main">
            <a:off x="609600" y="2057400"/>
            <a:ext cx="5010150" cy="3600450"/>
          </a:xfrm>
          <a:prstGeom xmlns:a="http://schemas.openxmlformats.org/drawingml/2006/main" prst="rect">
            <a:avLst/>
          </a:prstGeom>
        </p:spPr>
      </p:pic>
      <p:sp>
        <p:nvSpPr>
          <p:cNvPr id="6" name="PASSAGE IN THE DOCUMENT&#10;“Any use of">
            <a:extLst xmlns:a="http://schemas.openxmlformats.org/drawingml/2006/main">
              <a:ext uri="{FF2B5EF4-FFF2-40B4-BE49-F238E27FC236}">
                <a16:creationId xmlns:a16="http://schemas.microsoft.com/office/drawing/2014/main" id="{68225F83-C202-402F-BA52-93D89293C298}"/>
              </a:ext>
            </a:extLst>
          </p:cNvPr>
          <p:cNvSpPr>
            <a:spLocks xmlns:a="http://schemas.openxmlformats.org/drawingml/2006/main" noGrp="1"/>
          </p:cNvSpPr>
          <p:nvPr/>
        </p:nvSpPr>
        <p:spPr>
          <a:xfrm xmlns:a="http://schemas.openxmlformats.org/drawingml/2006/main">
            <a:off x="6267450" y="2076450"/>
            <a:ext cx="5314950" cy="3562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PASSAGE IN THE DOCUMENT</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“Any use of AI should be disclosed.”</a:t>
            </a:r>
          </a:p>
          <a:p xmlns:a="http://schemas.openxmlformats.org/drawingml/2006/main">
            <a:r>
              <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READER COMMENT</a:t>
            </a:r>
          </a:p>
          <a:p xmlns:a="http://schemas.openxmlformats.org/drawingml/2006/main">
            <a:pPr>
              <a:lnSpc>
                <a:spcPct val="114000"/>
              </a:lnSpc>
              <a:buNone/>
              <a:defRPr sz="2100" b="0">
                <a:solidFill>
                  <a:srgbClr val="1C1710"/>
                </a:solidFill>
                <a:latin typeface="Helvetica Neue"/>
                <a:ea typeface="Helvetica Neue"/>
                <a:cs typeface="Helvetica Neue"/>
              </a:defRPr>
            </a:pPr>
            <a:r>
              <a:rPr sz="2100" b="0">
                <a:solidFill>
                  <a:srgbClr val="1C1710"/>
                </a:solidFill>
                <a:latin typeface="Helvetica Neue"/>
                <a:ea typeface="Helvetica Neue"/>
                <a:cs typeface="Helvetica Neue"/>
              </a:rPr>
              <a:t>I don’t know how to disclose my use. Should I add a note to the assignment, send an email, or use another method?</a:t>
            </a:r>
          </a:p>
        </p:txBody>
      </p:sp>
      <p:sp>
        <p:nvSpPr>
          <p:cNvPr id="7" name="Does the comment help the author ma">
            <a:extLst xmlns:a="http://schemas.openxmlformats.org/drawingml/2006/main">
              <a:ext uri="{FF2B5EF4-FFF2-40B4-BE49-F238E27FC236}">
                <a16:creationId xmlns:a16="http://schemas.microsoft.com/office/drawing/2014/main" id="{AEE2CB6D-4CA9-4DB8-B8E5-35FD9DDD9F59}"/>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Does the comment help the author make a decision?</a:t>
            </a:r>
          </a:p>
        </p:txBody>
      </p:sp>
      <p:sp>
        <p:nvSpPr>
          <p:cNvPr id="8" name="Prepared annotation example, not a ">
            <a:extLst xmlns:a="http://schemas.openxmlformats.org/drawingml/2006/main">
              <a:ext uri="{FF2B5EF4-FFF2-40B4-BE49-F238E27FC236}">
                <a16:creationId xmlns:a16="http://schemas.microsoft.com/office/drawing/2014/main" id="{6D26E0ED-E881-4CF9-A615-197B66B41793}"/>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Prepared annotation example, not a screenshot of Word</a:t>
            </a:r>
          </a:p>
        </p:txBody>
      </p:sp>
      <p:sp>
        <p:nvSpPr>
          <p:cNvPr id="9" name="12">
            <a:extLst xmlns:a="http://schemas.openxmlformats.org/drawingml/2006/main">
              <a:ext uri="{FF2B5EF4-FFF2-40B4-BE49-F238E27FC236}">
                <a16:creationId xmlns:a16="http://schemas.microsoft.com/office/drawing/2014/main" id="{1F1EC942-8374-47F9-B712-0FB642D97F7D}"/>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12</a:t>
            </a:r>
          </a:p>
        </p:txBody>
      </p:sp>
    </p:spTree>
    <p:extLst>
      <p:ext uri="{BB962C8B-B14F-4D97-AF65-F5344CB8AC3E}">
        <p14:creationId xmlns:p14="http://schemas.microsoft.com/office/powerpoint/2010/main" val="490654087"/>
      </p:ext>
    </p:extLst>
  </p:cSld>
</p:sld>
</file>

<file path=ppt/slides/slide13.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7" name="Try it or discuss it">
            <a:extLst xmlns:a="http://schemas.openxmlformats.org/drawingml/2006/main">
              <a:ext uri="{FF2B5EF4-FFF2-40B4-BE49-F238E27FC236}">
                <a16:creationId xmlns:a16="http://schemas.microsoft.com/office/drawing/2014/main" id="{055452A6-0D75-4B7E-96DB-1796DA803D11}"/>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Try it or discuss it</a:t>
            </a:r>
          </a:p>
        </p:txBody>
      </p:sp>
      <p:sp>
        <p:nvSpPr>
          <p:cNvPr id="2" name="One finding you would use, one you ">
            <a:extLst xmlns:a="http://schemas.openxmlformats.org/drawingml/2006/main">
              <a:ext uri="{FF2B5EF4-FFF2-40B4-BE49-F238E27FC236}">
                <a16:creationId xmlns:a16="http://schemas.microsoft.com/office/drawing/2014/main" id="{C665D0EF-2E36-49CD-9AEB-70CCBE4DDAFC}"/>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One finding you would use, one you would question</a:t>
            </a:r>
          </a:p>
        </p:txBody>
      </p:sp>
      <p:sp>
        <p:nvSpPr>
          <p:cNvPr id="3" name="With a laptop&#10;Use the editorial bri">
            <a:extLst xmlns:a="http://schemas.openxmlformats.org/drawingml/2006/main">
              <a:ext uri="{FF2B5EF4-FFF2-40B4-BE49-F238E27FC236}">
                <a16:creationId xmlns:a16="http://schemas.microsoft.com/office/drawing/2014/main" id="{B2469A81-C3CF-4B51-916E-3801EF1DCCD3}"/>
              </a:ext>
            </a:extLst>
          </p:cNvPr>
          <p:cNvSpPr>
            <a:spLocks xmlns:a="http://schemas.openxmlformats.org/drawingml/2006/main" noGrp="1"/>
          </p:cNvSpPr>
          <p:nvPr/>
        </p:nvSpPr>
        <p:spPr>
          <a:xfrm xmlns:a="http://schemas.openxmlformats.org/drawingml/2006/main">
            <a:off x="609600" y="2076450"/>
            <a:ext cx="10668000" cy="335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325" b="0">
                <a:solidFill>
                  <a:srgbClr val="1C1710"/>
                </a:solidFill>
                <a:latin typeface="Helvetica Neue"/>
                <a:ea typeface="Helvetica Neue"/>
                <a:cs typeface="Helvetica Neue"/>
              </a:defRPr>
            </a:pPr>
            <a:r>
              <a:rPr sz="2325" b="0">
                <a:solidFill>
                  <a:srgbClr val="1C1710"/>
                </a:solidFill>
                <a:latin typeface="Helvetica Neue"/>
                <a:ea typeface="Helvetica Neue"/>
                <a:cs typeface="Helvetica Neue"/>
              </a:rPr>
              <a:t>With a laptop</a:t>
            </a:r>
          </a:p>
          <a:p xmlns:a="http://schemas.openxmlformats.org/drawingml/2006/main">
            <a:pPr>
              <a:lnSpc>
                <a:spcPct val="114000"/>
              </a:lnSpc>
              <a:buNone/>
              <a:defRPr sz="2325" b="0">
                <a:solidFill>
                  <a:srgbClr val="1C1710"/>
                </a:solidFill>
                <a:latin typeface="Helvetica Neue"/>
                <a:ea typeface="Helvetica Neue"/>
                <a:cs typeface="Helvetica Neue"/>
              </a:defRPr>
            </a:pPr>
            <a:r>
              <a:rPr sz="2325" b="0">
                <a:solidFill>
                  <a:srgbClr val="1C1710"/>
                </a:solidFill>
                <a:latin typeface="Helvetica Neue"/>
                <a:ea typeface="Helvetica Neue"/>
                <a:cs typeface="Helvetica Neue"/>
              </a:rPr>
              <a:t>Use the editorial brief on one shareable paragraph. Choose one finding to inspect.</a:t>
            </a:r>
          </a:p>
          <a:p xmlns:a="http://schemas.openxmlformats.org/drawingml/2006/main">
            <a:r>
              <a:t/>
            </a:r>
          </a:p>
          <a:p xmlns:a="http://schemas.openxmlformats.org/drawingml/2006/main">
            <a:pPr>
              <a:lnSpc>
                <a:spcPct val="114000"/>
              </a:lnSpc>
              <a:buNone/>
              <a:defRPr sz="2325" b="0">
                <a:solidFill>
                  <a:srgbClr val="1C1710"/>
                </a:solidFill>
                <a:latin typeface="Helvetica Neue"/>
                <a:ea typeface="Helvetica Neue"/>
                <a:cs typeface="Helvetica Neue"/>
              </a:defRPr>
            </a:pPr>
            <a:r>
              <a:rPr sz="2325" b="0">
                <a:solidFill>
                  <a:srgbClr val="1C1710"/>
                </a:solidFill>
                <a:latin typeface="Helvetica Neue"/>
                <a:ea typeface="Helvetica Neue"/>
                <a:cs typeface="Helvetica Neue"/>
              </a:rPr>
              <a:t>Watching the presentation</a:t>
            </a:r>
          </a:p>
          <a:p xmlns:a="http://schemas.openxmlformats.org/drawingml/2006/main">
            <a:pPr>
              <a:lnSpc>
                <a:spcPct val="114000"/>
              </a:lnSpc>
              <a:buNone/>
              <a:defRPr sz="2325" b="0">
                <a:solidFill>
                  <a:srgbClr val="1C1710"/>
                </a:solidFill>
                <a:latin typeface="Helvetica Neue"/>
                <a:ea typeface="Helvetica Neue"/>
                <a:cs typeface="Helvetica Neue"/>
              </a:defRPr>
            </a:pPr>
            <a:r>
              <a:rPr sz="2325" b="0">
                <a:solidFill>
                  <a:srgbClr val="1C1710"/>
                </a:solidFill>
                <a:latin typeface="Helvetica Neue"/>
                <a:ea typeface="Helvetica Neue"/>
                <a:cs typeface="Helvetica Neue"/>
              </a:rPr>
              <a:t>Choose a finding from our examples. Would you accept it, reject it, or ask a follow-up?</a:t>
            </a:r>
          </a:p>
        </p:txBody>
      </p:sp>
      <p:sp>
        <p:nvSpPr>
          <p:cNvPr id="4" name="What in the text supports your deci">
            <a:extLst xmlns:a="http://schemas.openxmlformats.org/drawingml/2006/main">
              <a:ext uri="{FF2B5EF4-FFF2-40B4-BE49-F238E27FC236}">
                <a16:creationId xmlns:a16="http://schemas.microsoft.com/office/drawing/2014/main" id="{9C4ACB7F-F9C8-4DF8-96A7-779183AF80B2}"/>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What in the text supports your decision?</a:t>
            </a:r>
          </a:p>
        </p:txBody>
      </p:sp>
      <p:sp>
        <p:nvSpPr>
          <p:cNvPr id="5" name="Reliable AI for Humanists">
            <a:extLst xmlns:a="http://schemas.openxmlformats.org/drawingml/2006/main">
              <a:ext uri="{FF2B5EF4-FFF2-40B4-BE49-F238E27FC236}">
                <a16:creationId xmlns:a16="http://schemas.microsoft.com/office/drawing/2014/main" id="{F07E2B5D-5CB9-4873-80DA-55AFCF7BAF8E}"/>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Reliable AI for Humanists</a:t>
            </a:r>
          </a:p>
        </p:txBody>
      </p:sp>
      <p:sp>
        <p:nvSpPr>
          <p:cNvPr id="6" name="13">
            <a:extLst xmlns:a="http://schemas.openxmlformats.org/drawingml/2006/main">
              <a:ext uri="{FF2B5EF4-FFF2-40B4-BE49-F238E27FC236}">
                <a16:creationId xmlns:a16="http://schemas.microsoft.com/office/drawing/2014/main" id="{2CE8BEBE-74F1-4FA2-A011-C608BBCB800E}"/>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13</a:t>
            </a:r>
          </a:p>
        </p:txBody>
      </p:sp>
    </p:spTree>
    <p:extLst>
      <p:ext uri="{BB962C8B-B14F-4D97-AF65-F5344CB8AC3E}">
        <p14:creationId xmlns:p14="http://schemas.microsoft.com/office/powerpoint/2010/main" val="1627394089"/>
      </p:ext>
    </p:extLst>
  </p:cSld>
</p:sld>
</file>

<file path=ppt/slides/slide14.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7" name="What to keep">
            <a:extLst xmlns:a="http://schemas.openxmlformats.org/drawingml/2006/main">
              <a:ext uri="{FF2B5EF4-FFF2-40B4-BE49-F238E27FC236}">
                <a16:creationId xmlns:a16="http://schemas.microsoft.com/office/drawing/2014/main" id="{C9C68439-ED1D-4ED3-A9D8-3FCEEBE1B508}"/>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What to keep</a:t>
            </a:r>
          </a:p>
        </p:txBody>
      </p:sp>
      <p:sp>
        <p:nvSpPr>
          <p:cNvPr id="2" name="The next editorial session">
            <a:extLst xmlns:a="http://schemas.openxmlformats.org/drawingml/2006/main">
              <a:ext uri="{FF2B5EF4-FFF2-40B4-BE49-F238E27FC236}">
                <a16:creationId xmlns:a16="http://schemas.microsoft.com/office/drawing/2014/main" id="{9A11FC14-DFA3-4313-959D-3A29D34C95F9}"/>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The next editorial session</a:t>
            </a:r>
          </a:p>
        </p:txBody>
      </p:sp>
      <p:sp>
        <p:nvSpPr>
          <p:cNvPr id="3" name="A brief for this piece&#10;What it is, ">
            <a:extLst xmlns:a="http://schemas.openxmlformats.org/drawingml/2006/main">
              <a:ext uri="{FF2B5EF4-FFF2-40B4-BE49-F238E27FC236}">
                <a16:creationId xmlns:a16="http://schemas.microsoft.com/office/drawing/2014/main" id="{23B0D636-7D03-4CAF-8F5B-08F640DDEF92}"/>
              </a:ext>
            </a:extLst>
          </p:cNvPr>
          <p:cNvSpPr>
            <a:spLocks xmlns:a="http://schemas.openxmlformats.org/drawingml/2006/main" noGrp="1"/>
          </p:cNvSpPr>
          <p:nvPr/>
        </p:nvSpPr>
        <p:spPr>
          <a:xfrm xmlns:a="http://schemas.openxmlformats.org/drawingml/2006/main">
            <a:off x="609600" y="1943100"/>
            <a:ext cx="105727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175" b="0">
                <a:solidFill>
                  <a:srgbClr val="1C1710"/>
                </a:solidFill>
                <a:latin typeface="Helvetica Neue"/>
                <a:ea typeface="Helvetica Neue"/>
                <a:cs typeface="Helvetica Neue"/>
              </a:defRPr>
            </a:pPr>
            <a:r>
              <a:rPr sz="2175" b="0">
                <a:solidFill>
                  <a:srgbClr val="1C1710"/>
                </a:solidFill>
                <a:latin typeface="Helvetica Neue"/>
                <a:ea typeface="Helvetica Neue"/>
                <a:cs typeface="Helvetica Neue"/>
              </a:rPr>
              <a:t>A brief for this piece</a:t>
            </a:r>
          </a:p>
          <a:p xmlns:a="http://schemas.openxmlformats.org/drawingml/2006/main">
            <a:pPr>
              <a:lnSpc>
                <a:spcPct val="114000"/>
              </a:lnSpc>
              <a:buNone/>
              <a:defRPr sz="2175" b="0">
                <a:solidFill>
                  <a:srgbClr val="1C1710"/>
                </a:solidFill>
                <a:latin typeface="Helvetica Neue"/>
                <a:ea typeface="Helvetica Neue"/>
                <a:cs typeface="Helvetica Neue"/>
              </a:defRPr>
            </a:pPr>
            <a:r>
              <a:rPr sz="2175" b="0">
                <a:solidFill>
                  <a:srgbClr val="1C1710"/>
                </a:solidFill>
                <a:latin typeface="Helvetica Neue"/>
                <a:ea typeface="Helvetica Neue"/>
                <a:cs typeface="Helvetica Neue"/>
              </a:rPr>
              <a:t>What it is, who reads it, and what you want examined.</a:t>
            </a:r>
          </a:p>
          <a:p xmlns:a="http://schemas.openxmlformats.org/drawingml/2006/main">
            <a:r>
              <a:t/>
            </a:r>
          </a:p>
          <a:p xmlns:a="http://schemas.openxmlformats.org/drawingml/2006/main">
            <a:pPr>
              <a:lnSpc>
                <a:spcPct val="114000"/>
              </a:lnSpc>
              <a:buNone/>
              <a:defRPr sz="2175" b="0">
                <a:solidFill>
                  <a:srgbClr val="1C1710"/>
                </a:solidFill>
                <a:latin typeface="Helvetica Neue"/>
                <a:ea typeface="Helvetica Neue"/>
                <a:cs typeface="Helvetica Neue"/>
              </a:defRPr>
            </a:pPr>
            <a:r>
              <a:rPr sz="2175" b="0">
                <a:solidFill>
                  <a:srgbClr val="1C1710"/>
                </a:solidFill>
                <a:latin typeface="Helvetica Neue"/>
                <a:ea typeface="Helvetica Neue"/>
                <a:cs typeface="Helvetica Neue"/>
              </a:rPr>
              <a:t>A short file of standing rules</a:t>
            </a:r>
          </a:p>
          <a:p xmlns:a="http://schemas.openxmlformats.org/drawingml/2006/main">
            <a:pPr>
              <a:lnSpc>
                <a:spcPct val="114000"/>
              </a:lnSpc>
              <a:buNone/>
              <a:defRPr sz="2175" b="0">
                <a:solidFill>
                  <a:srgbClr val="1C1710"/>
                </a:solidFill>
                <a:latin typeface="Helvetica Neue"/>
                <a:ea typeface="Helvetica Neue"/>
                <a:cs typeface="Helvetica Neue"/>
              </a:defRPr>
            </a:pPr>
            <a:r>
              <a:rPr sz="2175" b="0">
                <a:solidFill>
                  <a:srgbClr val="1C1710"/>
                </a:solidFill>
                <a:latin typeface="Helvetica Neue"/>
                <a:ea typeface="Helvetica Neue"/>
                <a:cs typeface="Helvetica Neue"/>
              </a:rPr>
              <a:t>The habits and boundaries you want to carry forward.</a:t>
            </a:r>
          </a:p>
          <a:p xmlns:a="http://schemas.openxmlformats.org/drawingml/2006/main">
            <a:r>
              <a:t/>
            </a:r>
          </a:p>
          <a:p xmlns:a="http://schemas.openxmlformats.org/drawingml/2006/main">
            <a:pPr>
              <a:lnSpc>
                <a:spcPct val="114000"/>
              </a:lnSpc>
              <a:buNone/>
              <a:defRPr sz="2175" b="0">
                <a:solidFill>
                  <a:srgbClr val="1C1710"/>
                </a:solidFill>
                <a:latin typeface="Helvetica Neue"/>
                <a:ea typeface="Helvetica Neue"/>
                <a:cs typeface="Helvetica Neue"/>
              </a:defRPr>
            </a:pPr>
            <a:r>
              <a:rPr sz="2175" b="0">
                <a:solidFill>
                  <a:srgbClr val="1C1710"/>
                </a:solidFill>
                <a:latin typeface="Helvetica Neue"/>
                <a:ea typeface="Helvetica Neue"/>
                <a:cs typeface="Helvetica Neue"/>
              </a:rPr>
              <a:t>A reader perspective</a:t>
            </a:r>
          </a:p>
          <a:p xmlns:a="http://schemas.openxmlformats.org/drawingml/2006/main">
            <a:pPr>
              <a:lnSpc>
                <a:spcPct val="114000"/>
              </a:lnSpc>
              <a:buNone/>
              <a:defRPr sz="2175" b="0">
                <a:solidFill>
                  <a:srgbClr val="1C1710"/>
                </a:solidFill>
                <a:latin typeface="Helvetica Neue"/>
                <a:ea typeface="Helvetica Neue"/>
                <a:cs typeface="Helvetica Neue"/>
              </a:defRPr>
            </a:pPr>
            <a:r>
              <a:rPr sz="2175" b="0">
                <a:solidFill>
                  <a:srgbClr val="1C1710"/>
                </a:solidFill>
                <a:latin typeface="Helvetica Neue"/>
                <a:ea typeface="Helvetica Neue"/>
                <a:cs typeface="Helvetica Neue"/>
              </a:rPr>
              <a:t>A way to surface questions you can check against the text.</a:t>
            </a:r>
          </a:p>
        </p:txBody>
      </p:sp>
      <p:sp>
        <p:nvSpPr>
          <p:cNvPr id="4" name="You decide which comments deserve a">
            <a:extLst xmlns:a="http://schemas.openxmlformats.org/drawingml/2006/main">
              <a:ext uri="{FF2B5EF4-FFF2-40B4-BE49-F238E27FC236}">
                <a16:creationId xmlns:a16="http://schemas.microsoft.com/office/drawing/2014/main" id="{FD48399E-0E6F-456C-B613-33A02B3843CA}"/>
              </a:ext>
            </a:extLst>
          </p:cNvPr>
          <p:cNvSpPr>
            <a:spLocks xmlns:a="http://schemas.openxmlformats.org/drawingml/2006/main" noGrp="1"/>
          </p:cNvSpPr>
          <p:nvPr/>
        </p:nvSpPr>
        <p:spPr>
          <a:xfrm xmlns:a="http://schemas.openxmlformats.org/drawingml/2006/main">
            <a:off x="609600" y="5857875"/>
            <a:ext cx="10915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025" b="1">
                <a:solidFill>
                  <a:srgbClr val="9A1416"/>
                </a:solidFill>
                <a:latin typeface="Helvetica Neue"/>
                <a:ea typeface="Helvetica Neue"/>
                <a:cs typeface="Helvetica Neue"/>
              </a:defRPr>
            </a:pPr>
            <a:r>
              <a:rPr sz="2025" b="1">
                <a:solidFill>
                  <a:srgbClr val="9A1416"/>
                </a:solidFill>
                <a:latin typeface="Helvetica Neue"/>
                <a:ea typeface="Helvetica Neue"/>
                <a:cs typeface="Helvetica Neue"/>
              </a:rPr>
              <a:t>You decide which comments deserve a revision.</a:t>
            </a:r>
          </a:p>
        </p:txBody>
      </p:sp>
      <p:sp>
        <p:nvSpPr>
          <p:cNvPr id="5" name="Reliable AI for Humanists">
            <a:extLst xmlns:a="http://schemas.openxmlformats.org/drawingml/2006/main">
              <a:ext uri="{FF2B5EF4-FFF2-40B4-BE49-F238E27FC236}">
                <a16:creationId xmlns:a16="http://schemas.microsoft.com/office/drawing/2014/main" id="{C8728B61-390D-4D27-8303-404FDCD65D06}"/>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Reliable AI for Humanists</a:t>
            </a:r>
          </a:p>
        </p:txBody>
      </p:sp>
      <p:sp>
        <p:nvSpPr>
          <p:cNvPr id="6" name="14">
            <a:extLst xmlns:a="http://schemas.openxmlformats.org/drawingml/2006/main">
              <a:ext uri="{FF2B5EF4-FFF2-40B4-BE49-F238E27FC236}">
                <a16:creationId xmlns:a16="http://schemas.microsoft.com/office/drawing/2014/main" id="{3DE09D64-204C-4F78-82C4-90ADBD856CAA}"/>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14</a:t>
            </a:r>
          </a:p>
        </p:txBody>
      </p:sp>
    </p:spTree>
    <p:extLst>
      <p:ext uri="{BB962C8B-B14F-4D97-AF65-F5344CB8AC3E}">
        <p14:creationId xmlns:p14="http://schemas.microsoft.com/office/powerpoint/2010/main" val="248479502"/>
      </p:ext>
    </p:extLst>
  </p:cSld>
</p:sld>
</file>

<file path=ppt/slides/slide15.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6" name="Continue at your own pace">
            <a:extLst xmlns:a="http://schemas.openxmlformats.org/drawingml/2006/main">
              <a:ext uri="{FF2B5EF4-FFF2-40B4-BE49-F238E27FC236}">
                <a16:creationId xmlns:a16="http://schemas.microsoft.com/office/drawing/2014/main" id="{C00C2E64-1192-4474-AD7B-EA0AED3D9F18}"/>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Continue at your own pace</a:t>
            </a:r>
          </a:p>
        </p:txBody>
      </p:sp>
      <p:sp>
        <p:nvSpPr>
          <p:cNvPr id="2" name="The webpage is the full walkthrough">
            <a:extLst xmlns:a="http://schemas.openxmlformats.org/drawingml/2006/main">
              <a:ext uri="{FF2B5EF4-FFF2-40B4-BE49-F238E27FC236}">
                <a16:creationId xmlns:a16="http://schemas.microsoft.com/office/drawing/2014/main" id="{37D35FE2-7C48-4057-B26C-41015ED7EF4D}"/>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The webpage is the full walkthrough</a:t>
            </a:r>
          </a:p>
        </p:txBody>
      </p:sp>
      <p:sp>
        <p:nvSpPr>
          <p:cNvPr id="3" name="amaranth.unm.edu/reliable-ai&#10;&#10;The c">
            <a:extLst xmlns:a="http://schemas.openxmlformats.org/drawingml/2006/main">
              <a:ext uri="{FF2B5EF4-FFF2-40B4-BE49-F238E27FC236}">
                <a16:creationId xmlns:a16="http://schemas.microsoft.com/office/drawing/2014/main" id="{8E38C3D0-174E-4150-8D5B-CE5AFBDE15A6}"/>
              </a:ext>
            </a:extLst>
          </p:cNvPr>
          <p:cNvSpPr>
            <a:spLocks xmlns:a="http://schemas.openxmlformats.org/drawingml/2006/main" noGrp="1"/>
          </p:cNvSpPr>
          <p:nvPr/>
        </p:nvSpPr>
        <p:spPr>
          <a:xfrm xmlns:a="http://schemas.openxmlformats.org/drawingml/2006/main">
            <a:off x="609600" y="2143125"/>
            <a:ext cx="1066800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550" b="0">
                <a:solidFill>
                  <a:srgbClr val="1C1710"/>
                </a:solidFill>
                <a:latin typeface="Helvetica Neue"/>
                <a:ea typeface="Helvetica Neue"/>
                <a:cs typeface="Helvetica Neue"/>
              </a:defRPr>
            </a:pPr>
            <a:r>
              <a:rPr sz="2550" b="0">
                <a:solidFill>
                  <a:srgbClr val="1C1710"/>
                </a:solidFill>
                <a:latin typeface="Helvetica Neue"/>
                <a:ea typeface="Helvetica Neue"/>
                <a:cs typeface="Helvetica Neue"/>
              </a:rPr>
              <a:t>amaranth.unm.edu/reliable-ai</a:t>
            </a:r>
          </a:p>
          <a:p xmlns:a="http://schemas.openxmlformats.org/drawingml/2006/main">
            <a:r>
              <a:t/>
            </a:r>
          </a:p>
          <a:p xmlns:a="http://schemas.openxmlformats.org/drawingml/2006/main">
            <a:pPr>
              <a:lnSpc>
                <a:spcPct val="114000"/>
              </a:lnSpc>
              <a:buNone/>
              <a:defRPr sz="2550" b="0">
                <a:solidFill>
                  <a:srgbClr val="1C1710"/>
                </a:solidFill>
                <a:latin typeface="Helvetica Neue"/>
                <a:ea typeface="Helvetica Neue"/>
                <a:cs typeface="Helvetica Neue"/>
              </a:defRPr>
            </a:pPr>
            <a:r>
              <a:rPr sz="2550" b="0">
                <a:solidFill>
                  <a:srgbClr val="1C1710"/>
                </a:solidFill>
                <a:latin typeface="Helvetica Neue"/>
                <a:ea typeface="Helvetica Neue"/>
                <a:cs typeface="Helvetica Neue"/>
              </a:rPr>
              <a:t>The complete sequence</a:t>
            </a:r>
          </a:p>
          <a:p xmlns:a="http://schemas.openxmlformats.org/drawingml/2006/main">
            <a:pPr>
              <a:lnSpc>
                <a:spcPct val="114000"/>
              </a:lnSpc>
              <a:buNone/>
              <a:defRPr sz="2550" b="0">
                <a:solidFill>
                  <a:srgbClr val="1C1710"/>
                </a:solidFill>
                <a:latin typeface="Helvetica Neue"/>
                <a:ea typeface="Helvetica Neue"/>
                <a:cs typeface="Helvetica Neue"/>
              </a:defRPr>
            </a:pPr>
            <a:r>
              <a:rPr sz="2550" b="0">
                <a:solidFill>
                  <a:srgbClr val="1C1710"/>
                </a:solidFill>
                <a:latin typeface="Helvetica Neue"/>
                <a:ea typeface="Helvetica Neue"/>
                <a:cs typeface="Helvetica Neue"/>
              </a:rPr>
              <a:t>Copyable prompts</a:t>
            </a:r>
          </a:p>
          <a:p xmlns:a="http://schemas.openxmlformats.org/drawingml/2006/main">
            <a:pPr>
              <a:lnSpc>
                <a:spcPct val="114000"/>
              </a:lnSpc>
              <a:buNone/>
              <a:defRPr sz="2550" b="0">
                <a:solidFill>
                  <a:srgbClr val="1C1710"/>
                </a:solidFill>
                <a:latin typeface="Helvetica Neue"/>
                <a:ea typeface="Helvetica Neue"/>
                <a:cs typeface="Helvetica Neue"/>
              </a:defRPr>
            </a:pPr>
            <a:r>
              <a:rPr sz="2550" b="0">
                <a:solidFill>
                  <a:srgbClr val="1C1710"/>
                </a:solidFill>
                <a:latin typeface="Helvetica Neue"/>
                <a:ea typeface="Helvetica Neue"/>
                <a:cs typeface="Helvetica Neue"/>
              </a:rPr>
              <a:t>Practice texts</a:t>
            </a:r>
          </a:p>
          <a:p xmlns:a="http://schemas.openxmlformats.org/drawingml/2006/main">
            <a:pPr>
              <a:lnSpc>
                <a:spcPct val="114000"/>
              </a:lnSpc>
              <a:buNone/>
              <a:defRPr sz="2550" b="0">
                <a:solidFill>
                  <a:srgbClr val="1C1710"/>
                </a:solidFill>
                <a:latin typeface="Helvetica Neue"/>
                <a:ea typeface="Helvetica Neue"/>
                <a:cs typeface="Helvetica Neue"/>
              </a:defRPr>
            </a:pPr>
            <a:r>
              <a:rPr sz="2550" b="0">
                <a:solidFill>
                  <a:srgbClr val="1C1710"/>
                </a:solidFill>
                <a:latin typeface="Helvetica Neue"/>
                <a:ea typeface="Helvetica Neue"/>
                <a:cs typeface="Helvetica Neue"/>
              </a:rPr>
              <a:t>More rules and reader roles to try</a:t>
            </a:r>
          </a:p>
        </p:txBody>
      </p:sp>
      <p:sp>
        <p:nvSpPr>
          <p:cNvPr id="4" name="Reliable AI for Humanists">
            <a:extLst xmlns:a="http://schemas.openxmlformats.org/drawingml/2006/main">
              <a:ext uri="{FF2B5EF4-FFF2-40B4-BE49-F238E27FC236}">
                <a16:creationId xmlns:a16="http://schemas.microsoft.com/office/drawing/2014/main" id="{FD62568B-8EE6-4F89-BE96-0988A06D52B9}"/>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Reliable AI for Humanists</a:t>
            </a:r>
          </a:p>
        </p:txBody>
      </p:sp>
      <p:sp>
        <p:nvSpPr>
          <p:cNvPr id="5" name="15">
            <a:extLst xmlns:a="http://schemas.openxmlformats.org/drawingml/2006/main">
              <a:ext uri="{FF2B5EF4-FFF2-40B4-BE49-F238E27FC236}">
                <a16:creationId xmlns:a16="http://schemas.microsoft.com/office/drawing/2014/main" id="{A85E0DEC-301D-42C1-87A8-20769C172951}"/>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15</a:t>
            </a:r>
          </a:p>
        </p:txBody>
      </p:sp>
    </p:spTree>
    <p:extLst>
      <p:ext uri="{BB962C8B-B14F-4D97-AF65-F5344CB8AC3E}">
        <p14:creationId xmlns:p14="http://schemas.microsoft.com/office/powerpoint/2010/main" val="1288736581"/>
      </p:ext>
    </p:extLst>
  </p:cSld>
</p:sld>
</file>

<file path=ppt/slides/slide16.xml><?xml version="1.0" encoding="utf-8"?>
<p:sld xmlns:p="http://schemas.openxmlformats.org/presentationml/2006/main">
  <p:cSld>
    <p:bg>
      <p:bgPr>
        <a:solidFill xmlns:a="http://schemas.openxmlformats.org/drawingml/2006/main">
          <a:srgbClr val="F4EDE2"/>
        </a:solidFill>
      </p:bgPr>
    </p:bg>
    <p:spTree>
      <p:nvGrpSpPr>
        <p:cNvPr id="1" name=""/>
        <p:cNvGrpSpPr/>
        <p:nvPr/>
      </p:nvGrpSpPr>
      <p:grpSpPr>
        <a:xfrm xmlns:a="http://schemas.openxmlformats.org/drawingml/2006/main"/>
      </p:grpSpPr>
      <p:sp>
        <p:nvSpPr>
          <p:cNvPr id="6" name="Questions and discussion">
            <a:extLst xmlns:a="http://schemas.openxmlformats.org/drawingml/2006/main">
              <a:ext uri="{FF2B5EF4-FFF2-40B4-BE49-F238E27FC236}">
                <a16:creationId xmlns:a16="http://schemas.microsoft.com/office/drawing/2014/main" id="{CF43CF0F-99B5-406B-BB8B-508F3CA3620F}"/>
              </a:ext>
            </a:extLst>
          </p:cNvPr>
          <p:cNvSpPr>
            <a:spLocks xmlns:a="http://schemas.openxmlformats.org/drawingml/2006/main" noGrp="1"/>
          </p:cNvSpPr>
          <p:nvPr/>
        </p:nvSpPr>
        <p:spPr>
          <a:xfrm xmlns:a="http://schemas.openxmlformats.org/drawingml/2006/main">
            <a:off x="609600" y="381000"/>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575" b="1">
                <a:solidFill>
                  <a:srgbClr val="9A1416"/>
                </a:solidFill>
                <a:latin typeface="Helvetica Neue"/>
                <a:ea typeface="Helvetica Neue"/>
                <a:cs typeface="Helvetica Neue"/>
              </a:defRPr>
            </a:pPr>
            <a:r>
              <a:rPr sz="1575" b="1">
                <a:solidFill>
                  <a:srgbClr val="9A1416"/>
                </a:solidFill>
                <a:latin typeface="Helvetica Neue"/>
                <a:ea typeface="Helvetica Neue"/>
                <a:cs typeface="Helvetica Neue"/>
              </a:rPr>
              <a:t>Questions and discussion</a:t>
            </a:r>
          </a:p>
        </p:txBody>
      </p:sp>
      <p:sp>
        <p:nvSpPr>
          <p:cNvPr id="2" name="What would you ask a reader to noti">
            <a:extLst xmlns:a="http://schemas.openxmlformats.org/drawingml/2006/main">
              <a:ext uri="{FF2B5EF4-FFF2-40B4-BE49-F238E27FC236}">
                <a16:creationId xmlns:a16="http://schemas.microsoft.com/office/drawing/2014/main" id="{E4BC7F4D-05B4-4FAD-A2ED-220C1312904E}"/>
              </a:ext>
            </a:extLst>
          </p:cNvPr>
          <p:cNvSpPr>
            <a:spLocks xmlns:a="http://schemas.openxmlformats.org/drawingml/2006/main" noGrp="1"/>
          </p:cNvSpPr>
          <p:nvPr/>
        </p:nvSpPr>
        <p:spPr>
          <a:xfrm xmlns:a="http://schemas.openxmlformats.org/drawingml/2006/main">
            <a:off x="609600" y="8382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3150" b="1">
                <a:solidFill>
                  <a:srgbClr val="1C1710"/>
                </a:solidFill>
                <a:latin typeface="Helvetica Neue"/>
                <a:ea typeface="Helvetica Neue"/>
                <a:cs typeface="Helvetica Neue"/>
              </a:defRPr>
            </a:pPr>
            <a:r>
              <a:rPr sz="3150" b="1">
                <a:solidFill>
                  <a:srgbClr val="1C1710"/>
                </a:solidFill>
                <a:latin typeface="Helvetica Neue"/>
                <a:ea typeface="Helvetica Neue"/>
                <a:cs typeface="Helvetica Neue"/>
              </a:rPr>
              <a:t>What would you ask a reader to notice?</a:t>
            </a:r>
          </a:p>
        </p:txBody>
      </p:sp>
      <p:sp>
        <p:nvSpPr>
          <p:cNvPr id="3" name="A passage you are unsure about&#10;A re">
            <a:extLst xmlns:a="http://schemas.openxmlformats.org/drawingml/2006/main">
              <a:ext uri="{FF2B5EF4-FFF2-40B4-BE49-F238E27FC236}">
                <a16:creationId xmlns:a16="http://schemas.microsoft.com/office/drawing/2014/main" id="{62824380-C722-4FF0-AC54-6C128AB527C5}"/>
              </a:ext>
            </a:extLst>
          </p:cNvPr>
          <p:cNvSpPr>
            <a:spLocks xmlns:a="http://schemas.openxmlformats.org/drawingml/2006/main" noGrp="1"/>
          </p:cNvSpPr>
          <p:nvPr/>
        </p:nvSpPr>
        <p:spPr>
          <a:xfrm xmlns:a="http://schemas.openxmlformats.org/drawingml/2006/main">
            <a:off x="609600" y="2333625"/>
            <a:ext cx="106680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2550" b="0">
                <a:solidFill>
                  <a:srgbClr val="1C1710"/>
                </a:solidFill>
                <a:latin typeface="Helvetica Neue"/>
                <a:ea typeface="Helvetica Neue"/>
                <a:cs typeface="Helvetica Neue"/>
              </a:defRPr>
            </a:pPr>
            <a:r>
              <a:rPr sz="2550" b="0">
                <a:solidFill>
                  <a:srgbClr val="1C1710"/>
                </a:solidFill>
                <a:latin typeface="Helvetica Neue"/>
                <a:ea typeface="Helvetica Neue"/>
                <a:cs typeface="Helvetica Neue"/>
              </a:rPr>
              <a:t>A passage you are unsure about</a:t>
            </a:r>
          </a:p>
          <a:p xmlns:a="http://schemas.openxmlformats.org/drawingml/2006/main">
            <a:pPr>
              <a:lnSpc>
                <a:spcPct val="114000"/>
              </a:lnSpc>
              <a:buNone/>
              <a:defRPr sz="2550" b="0">
                <a:solidFill>
                  <a:srgbClr val="1C1710"/>
                </a:solidFill>
                <a:latin typeface="Helvetica Neue"/>
                <a:ea typeface="Helvetica Neue"/>
                <a:cs typeface="Helvetica Neue"/>
              </a:defRPr>
            </a:pPr>
            <a:r>
              <a:rPr sz="2550" b="0">
                <a:solidFill>
                  <a:srgbClr val="1C1710"/>
                </a:solidFill>
                <a:latin typeface="Helvetica Neue"/>
                <a:ea typeface="Helvetica Neue"/>
                <a:cs typeface="Helvetica Neue"/>
              </a:rPr>
              <a:t>A recurring editing frustration</a:t>
            </a:r>
          </a:p>
          <a:p xmlns:a="http://schemas.openxmlformats.org/drawingml/2006/main">
            <a:pPr>
              <a:lnSpc>
                <a:spcPct val="114000"/>
              </a:lnSpc>
              <a:buNone/>
              <a:defRPr sz="2550" b="0">
                <a:solidFill>
                  <a:srgbClr val="1C1710"/>
                </a:solidFill>
                <a:latin typeface="Helvetica Neue"/>
                <a:ea typeface="Helvetica Neue"/>
                <a:cs typeface="Helvetica Neue"/>
              </a:defRPr>
            </a:pPr>
            <a:r>
              <a:rPr sz="2550" b="0">
                <a:solidFill>
                  <a:srgbClr val="1C1710"/>
                </a:solidFill>
                <a:latin typeface="Helvetica Neue"/>
                <a:ea typeface="Helvetica Neue"/>
                <a:cs typeface="Helvetica Neue"/>
              </a:rPr>
              <a:t>A reader whose reaction you want to explore</a:t>
            </a:r>
          </a:p>
        </p:txBody>
      </p:sp>
      <p:sp>
        <p:nvSpPr>
          <p:cNvPr id="4" name="Reliable AI for Humanists">
            <a:extLst xmlns:a="http://schemas.openxmlformats.org/drawingml/2006/main">
              <a:ext uri="{FF2B5EF4-FFF2-40B4-BE49-F238E27FC236}">
                <a16:creationId xmlns:a16="http://schemas.microsoft.com/office/drawing/2014/main" id="{A3DA13CE-1816-415B-BA96-453D3D0C2935}"/>
              </a:ext>
            </a:extLst>
          </p:cNvPr>
          <p:cNvSpPr>
            <a:spLocks xmlns:a="http://schemas.openxmlformats.org/drawingml/2006/main" noGrp="1"/>
          </p:cNvSpPr>
          <p:nvPr/>
        </p:nvSpPr>
        <p:spPr>
          <a:xfrm xmlns:a="http://schemas.openxmlformats.org/drawingml/2006/main">
            <a:off x="609600" y="6477000"/>
            <a:ext cx="1057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14000"/>
              </a:lnSpc>
              <a:buNone/>
              <a:defRPr sz="1200" b="0">
                <a:solidFill>
                  <a:srgbClr val="705F4A"/>
                </a:solidFill>
                <a:latin typeface="Helvetica Neue"/>
                <a:ea typeface="Helvetica Neue"/>
                <a:cs typeface="Helvetica Neue"/>
              </a:defRPr>
            </a:pPr>
            <a:r>
              <a:rPr sz="1200" b="0">
                <a:solidFill>
                  <a:srgbClr val="705F4A"/>
                </a:solidFill>
                <a:latin typeface="Helvetica Neue"/>
                <a:ea typeface="Helvetica Neue"/>
                <a:cs typeface="Helvetica Neue"/>
              </a:rPr>
              <a:t>Reliable AI for Humanists</a:t>
            </a:r>
          </a:p>
        </p:txBody>
      </p:sp>
      <p:sp>
        <p:nvSpPr>
          <p:cNvPr id="5" name="16">
            <a:extLst xmlns:a="http://schemas.openxmlformats.org/drawingml/2006/main">
              <a:ext uri="{FF2B5EF4-FFF2-40B4-BE49-F238E27FC236}">
                <a16:creationId xmlns:a16="http://schemas.microsoft.com/office/drawing/2014/main" id="{232B1C78-FD6F-4755-964B-7E41B8AC92DB}"/>
              </a:ext>
            </a:extLst>
          </p:cNvPr>
          <p:cNvSpPr>
            <a:spLocks xmlns:a="http://schemas.openxmlformats.org/drawingml/2006/main" noGrp="1"/>
          </p:cNvSpPr>
          <p:nvPr/>
        </p:nvSpPr>
        <p:spPr>
          <a:xfrm xmlns:a="http://schemas.openxmlformats.org/drawingml/2006/main">
            <a:off x="11182350" y="64579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lnSpc>
                <a:spcPct val="114000"/>
              </a:lnSpc>
              <a:buNone/>
              <a:defRPr sz="1350" b="0">
                <a:solidFill>
                  <a:srgbClr val="705F4A"/>
                </a:solidFill>
                <a:latin typeface="Helvetica Neue"/>
                <a:ea typeface="Helvetica Neue"/>
                <a:cs typeface="Helvetica Neue"/>
              </a:defRPr>
            </a:pPr>
            <a:r>
              <a:rPr sz="1350" b="0">
                <a:solidFill>
                  <a:srgbClr val="705F4A"/>
                </a:solidFill>
                <a:latin typeface="Helvetica Neue"/>
                <a:ea typeface="Helvetica Neue"/>
                <a:cs typeface="Helvetica Neue"/>
              </a:rPr>
              <a:t>16</a:t>
            </a:r>
          </a:p>
        </p:txBody>
      </p:sp>
    </p:spTree>
    <p:extLst>
      <p:ext uri="{BB962C8B-B14F-4D97-AF65-F5344CB8AC3E}">
        <p14:creationId xmlns:p14="http://schemas.microsoft.com/office/powerpoint/2010/main" val="5102066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2026-09-23T11:27:36.4220000Z</dcterms:created>
  <dcterms:modified xsi:type="dcterms:W3CDTF">2026-09-23T11:27:36.4220000Z</dcterms:modified>
</coreProperties>
</file>